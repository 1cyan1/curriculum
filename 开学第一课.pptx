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3" r:id="rId3"/>
    <p:sldId id="285" r:id="rId4"/>
    <p:sldId id="283" r:id="rId5"/>
    <p:sldId id="275" r:id="rId6"/>
    <p:sldId id="276" r:id="rId7"/>
    <p:sldId id="277" r:id="rId8"/>
    <p:sldId id="278" r:id="rId9"/>
    <p:sldId id="279" r:id="rId10"/>
    <p:sldId id="289" r:id="rId11"/>
    <p:sldId id="264" r:id="rId12"/>
    <p:sldId id="280" r:id="rId13"/>
    <p:sldId id="284" r:id="rId14"/>
    <p:sldId id="286" r:id="rId15"/>
    <p:sldId id="288" r:id="rId16"/>
    <p:sldId id="287" r:id="rId17"/>
    <p:sldId id="274"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97" d="100"/>
          <a:sy n="97" d="100"/>
        </p:scale>
        <p:origin x="579"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79507391-015F-41B0-A395-2FD6E82E4582}" type="datetimeFigureOut">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7DE31E4-6FF6-4DCE-9A57-07E448AAA7F3}" type="slidenum">
              <a:rPr lang="zh-CN" altLang="en-US" smtClean="0"/>
              <a:t>‹#›</a:t>
            </a:fld>
            <a:endParaRPr lang="zh-CN" altLang="en-US"/>
          </a:p>
        </p:txBody>
      </p:sp>
    </p:spTree>
    <p:extLst>
      <p:ext uri="{BB962C8B-B14F-4D97-AF65-F5344CB8AC3E}">
        <p14:creationId xmlns:p14="http://schemas.microsoft.com/office/powerpoint/2010/main" val="3372623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9507391-015F-41B0-A395-2FD6E82E4582}" type="datetimeFigureOut">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7DE31E4-6FF6-4DCE-9A57-07E448AAA7F3}" type="slidenum">
              <a:rPr lang="zh-CN" altLang="en-US" smtClean="0"/>
              <a:t>‹#›</a:t>
            </a:fld>
            <a:endParaRPr lang="zh-CN" altLang="en-US"/>
          </a:p>
        </p:txBody>
      </p:sp>
    </p:spTree>
    <p:extLst>
      <p:ext uri="{BB962C8B-B14F-4D97-AF65-F5344CB8AC3E}">
        <p14:creationId xmlns:p14="http://schemas.microsoft.com/office/powerpoint/2010/main" val="1416388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79507391-015F-41B0-A395-2FD6E82E4582}" type="datetimeFigureOut">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7DE31E4-6FF6-4DCE-9A57-07E448AAA7F3}" type="slidenum">
              <a:rPr lang="zh-CN" altLang="en-US" smtClean="0"/>
              <a:t>‹#›</a:t>
            </a:fld>
            <a:endParaRPr lang="zh-CN" altLang="en-US"/>
          </a:p>
        </p:txBody>
      </p:sp>
    </p:spTree>
    <p:extLst>
      <p:ext uri="{BB962C8B-B14F-4D97-AF65-F5344CB8AC3E}">
        <p14:creationId xmlns:p14="http://schemas.microsoft.com/office/powerpoint/2010/main" val="2810929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79507391-015F-41B0-A395-2FD6E82E4582}" type="datetimeFigureOut">
              <a:rPr lang="zh-CN" altLang="en-US" smtClean="0"/>
              <a:t>2026/9/7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7DE31E4-6FF6-4DCE-9A57-07E448AAA7F3}" type="slidenum">
              <a:rPr lang="zh-CN" altLang="en-US" smtClean="0"/>
              <a:t>‹#›</a:t>
            </a:fld>
            <a:endParaRPr lang="zh-CN" altLang="en-US"/>
          </a:p>
        </p:txBody>
      </p:sp>
    </p:spTree>
    <p:extLst>
      <p:ext uri="{BB962C8B-B14F-4D97-AF65-F5344CB8AC3E}">
        <p14:creationId xmlns:p14="http://schemas.microsoft.com/office/powerpoint/2010/main" val="10245966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79507391-015F-41B0-A395-2FD6E82E4582}" type="datetimeFigureOut">
              <a:rPr lang="zh-CN" altLang="en-US" smtClean="0"/>
              <a:t>2026/9/7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7DE31E4-6FF6-4DCE-9A57-07E448AAA7F3}" type="slidenum">
              <a:rPr lang="zh-CN" altLang="en-US" smtClean="0"/>
              <a:t>‹#›</a:t>
            </a:fld>
            <a:endParaRPr lang="zh-CN" altLang="en-US"/>
          </a:p>
        </p:txBody>
      </p:sp>
    </p:spTree>
    <p:extLst>
      <p:ext uri="{BB962C8B-B14F-4D97-AF65-F5344CB8AC3E}">
        <p14:creationId xmlns:p14="http://schemas.microsoft.com/office/powerpoint/2010/main" val="3616283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9507391-015F-41B0-A395-2FD6E82E4582}" type="datetimeFigureOut">
              <a:rPr lang="zh-CN" altLang="en-US" smtClean="0"/>
              <a:t>2026/9/7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7DE31E4-6FF6-4DCE-9A57-07E448AAA7F3}" type="slidenum">
              <a:rPr lang="zh-CN" altLang="en-US" smtClean="0"/>
              <a:t>‹#›</a:t>
            </a:fld>
            <a:endParaRPr lang="zh-CN" altLang="en-US"/>
          </a:p>
        </p:txBody>
      </p:sp>
    </p:spTree>
    <p:extLst>
      <p:ext uri="{BB962C8B-B14F-4D97-AF65-F5344CB8AC3E}">
        <p14:creationId xmlns:p14="http://schemas.microsoft.com/office/powerpoint/2010/main" val="1917237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9507391-015F-41B0-A395-2FD6E82E4582}" type="datetimeFigureOut">
              <a:rPr lang="zh-CN" altLang="en-US" smtClean="0"/>
              <a:t>2026/9/7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7DE31E4-6FF6-4DCE-9A57-07E448AAA7F3}" type="slidenum">
              <a:rPr lang="zh-CN" altLang="en-US" smtClean="0"/>
              <a:t>‹#›</a:t>
            </a:fld>
            <a:endParaRPr lang="zh-CN" altLang="en-US"/>
          </a:p>
        </p:txBody>
      </p:sp>
    </p:spTree>
    <p:extLst>
      <p:ext uri="{BB962C8B-B14F-4D97-AF65-F5344CB8AC3E}">
        <p14:creationId xmlns:p14="http://schemas.microsoft.com/office/powerpoint/2010/main" val="464581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79507391-015F-41B0-A395-2FD6E82E4582}" type="datetimeFigureOut">
              <a:rPr lang="zh-CN" altLang="en-US" smtClean="0"/>
              <a:t>2026/9/7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7DE31E4-6FF6-4DCE-9A57-07E448AAA7F3}" type="slidenum">
              <a:rPr lang="zh-CN" altLang="en-US" smtClean="0"/>
              <a:t>‹#›</a:t>
            </a:fld>
            <a:endParaRPr lang="zh-CN" altLang="en-US"/>
          </a:p>
        </p:txBody>
      </p:sp>
    </p:spTree>
    <p:extLst>
      <p:ext uri="{BB962C8B-B14F-4D97-AF65-F5344CB8AC3E}">
        <p14:creationId xmlns:p14="http://schemas.microsoft.com/office/powerpoint/2010/main" val="13342060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79507391-015F-41B0-A395-2FD6E82E4582}" type="datetimeFigureOut">
              <a:rPr lang="zh-CN" altLang="en-US" smtClean="0"/>
              <a:t>2026/9/7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7DE31E4-6FF6-4DCE-9A57-07E448AAA7F3}" type="slidenum">
              <a:rPr lang="zh-CN" altLang="en-US" smtClean="0"/>
              <a:t>‹#›</a:t>
            </a:fld>
            <a:endParaRPr lang="zh-CN" altLang="en-US"/>
          </a:p>
        </p:txBody>
      </p:sp>
    </p:spTree>
    <p:extLst>
      <p:ext uri="{BB962C8B-B14F-4D97-AF65-F5344CB8AC3E}">
        <p14:creationId xmlns:p14="http://schemas.microsoft.com/office/powerpoint/2010/main" val="2099876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9507391-015F-41B0-A395-2FD6E82E4582}" type="datetimeFigureOut">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7DE31E4-6FF6-4DCE-9A57-07E448AAA7F3}" type="slidenum">
              <a:rPr lang="zh-CN" altLang="en-US" smtClean="0"/>
              <a:t>‹#›</a:t>
            </a:fld>
            <a:endParaRPr lang="zh-CN" altLang="en-US"/>
          </a:p>
        </p:txBody>
      </p:sp>
    </p:spTree>
    <p:extLst>
      <p:ext uri="{BB962C8B-B14F-4D97-AF65-F5344CB8AC3E}">
        <p14:creationId xmlns:p14="http://schemas.microsoft.com/office/powerpoint/2010/main" val="16782753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9507391-015F-41B0-A395-2FD6E82E4582}" type="datetimeFigureOut">
              <a:rPr lang="zh-CN" altLang="en-US" smtClean="0"/>
              <a:t>2026/9/7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7DE31E4-6FF6-4DCE-9A57-07E448AAA7F3}" type="slidenum">
              <a:rPr lang="zh-CN" altLang="en-US" smtClean="0"/>
              <a:t>‹#›</a:t>
            </a:fld>
            <a:endParaRPr lang="zh-CN" altLang="en-US"/>
          </a:p>
        </p:txBody>
      </p:sp>
    </p:spTree>
    <p:extLst>
      <p:ext uri="{BB962C8B-B14F-4D97-AF65-F5344CB8AC3E}">
        <p14:creationId xmlns:p14="http://schemas.microsoft.com/office/powerpoint/2010/main" val="3959087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507391-015F-41B0-A395-2FD6E82E4582}" type="datetimeFigureOut">
              <a:rPr lang="zh-CN" altLang="en-US" smtClean="0"/>
              <a:t>2026/9/7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DE31E4-6FF6-4DCE-9A57-07E448AAA7F3}" type="slidenum">
              <a:rPr lang="zh-CN" altLang="en-US" smtClean="0"/>
              <a:t>‹#›</a:t>
            </a:fld>
            <a:endParaRPr lang="zh-CN" altLang="en-US"/>
          </a:p>
        </p:txBody>
      </p:sp>
    </p:spTree>
    <p:extLst>
      <p:ext uri="{BB962C8B-B14F-4D97-AF65-F5344CB8AC3E}">
        <p14:creationId xmlns:p14="http://schemas.microsoft.com/office/powerpoint/2010/main" val="8150674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home.ustc.edu.cn/~wt1997" TargetMode="External"/><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i.mooc.chaoxing.com/space" TargetMode="External"/><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hyperlink" Target="https://icourse.club/" TargetMode="External"/><Relationship Id="rId4" Type="http://schemas.openxmlformats.org/officeDocument/2006/relationships/hyperlink" Target="https://llm.ustc.edu.cn/"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10"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831" y="0"/>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11"/>
          <p:cNvSpPr>
            <a:spLocks noGrp="1" noChangeArrowheads="1"/>
          </p:cNvSpPr>
          <p:nvPr>
            <p:ph type="ctrTitle"/>
          </p:nvPr>
        </p:nvSpPr>
        <p:spPr>
          <a:xfrm>
            <a:off x="2286000" y="2362201"/>
            <a:ext cx="7772400" cy="1470025"/>
          </a:xfrm>
        </p:spPr>
        <p:txBody>
          <a:bodyPr anchor="ctr"/>
          <a:lstStyle/>
          <a:p>
            <a:pPr eaLnBrk="1" hangingPunct="1"/>
            <a:r>
              <a:rPr lang="zh-CN" altLang="en-US" sz="4400" dirty="0">
                <a:solidFill>
                  <a:srgbClr val="FFFF00"/>
                </a:solidFill>
                <a:latin typeface="黑体" panose="02010609060101010101" pitchFamily="49" charset="-122"/>
                <a:ea typeface="黑体" panose="02010609060101010101" pitchFamily="49" charset="-122"/>
              </a:rPr>
              <a:t>数学分析开学第一课</a:t>
            </a:r>
            <a:endParaRPr lang="zh-CN" altLang="zh-CN" sz="4400" dirty="0">
              <a:solidFill>
                <a:srgbClr val="FFFF00"/>
              </a:solidFill>
              <a:latin typeface="黑体" panose="02010609060101010101" pitchFamily="49" charset="-122"/>
              <a:ea typeface="黑体" panose="02010609060101010101" pitchFamily="49" charset="-122"/>
            </a:endParaRPr>
          </a:p>
        </p:txBody>
      </p:sp>
      <p:sp>
        <p:nvSpPr>
          <p:cNvPr id="2052" name="Rectangle 12"/>
          <p:cNvSpPr>
            <a:spLocks noGrp="1" noChangeArrowheads="1"/>
          </p:cNvSpPr>
          <p:nvPr>
            <p:ph type="subTitle" idx="1"/>
          </p:nvPr>
        </p:nvSpPr>
        <p:spPr>
          <a:xfrm>
            <a:off x="3733800" y="5105400"/>
            <a:ext cx="6400800" cy="1234440"/>
          </a:xfrm>
        </p:spPr>
        <p:txBody>
          <a:bodyPr>
            <a:normAutofit/>
          </a:bodyPr>
          <a:lstStyle/>
          <a:p>
            <a:pPr algn="r" eaLnBrk="1" hangingPunct="1"/>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数学科学学院 吴天</a:t>
            </a:r>
            <a:endParaRPr lang="en-US" altLang="zh-CN" sz="3200" dirty="0">
              <a:latin typeface="Times New Roman" panose="02020603050405020304" pitchFamily="18" charset="0"/>
              <a:ea typeface="华文楷体" panose="02010600040101010101" pitchFamily="2" charset="-122"/>
              <a:cs typeface="Times New Roman" panose="02020603050405020304" pitchFamily="18" charset="0"/>
            </a:endParaRPr>
          </a:p>
          <a:p>
            <a:pPr algn="r" eaLnBrk="1" hangingPunct="1"/>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2026</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年</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9</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月</a:t>
            </a:r>
            <a:r>
              <a:rPr lang="en-US" altLang="zh-CN" sz="3200" dirty="0">
                <a:latin typeface="Times New Roman" panose="02020603050405020304" pitchFamily="18" charset="0"/>
                <a:ea typeface="华文楷体" panose="02010600040101010101" pitchFamily="2" charset="-122"/>
                <a:cs typeface="Times New Roman" panose="02020603050405020304" pitchFamily="18" charset="0"/>
              </a:rPr>
              <a:t>7</a:t>
            </a:r>
            <a:r>
              <a:rPr lang="zh-CN" altLang="en-US" sz="3200" dirty="0">
                <a:latin typeface="Times New Roman" panose="02020603050405020304" pitchFamily="18" charset="0"/>
                <a:ea typeface="华文楷体" panose="02010600040101010101" pitchFamily="2" charset="-122"/>
                <a:cs typeface="Times New Roman" panose="02020603050405020304" pitchFamily="18" charset="0"/>
              </a:rPr>
              <a:t>日</a:t>
            </a:r>
            <a:endParaRPr lang="zh-CN" altLang="zh-CN" sz="3200"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224257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8" descr="PPT内页副本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961" y="289047"/>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8" name="Rectangle 10"/>
          <p:cNvSpPr>
            <a:spLocks noGrp="1" noChangeArrowheads="1"/>
          </p:cNvSpPr>
          <p:nvPr>
            <p:ph type="body" idx="1"/>
          </p:nvPr>
        </p:nvSpPr>
        <p:spPr>
          <a:xfrm>
            <a:off x="1567961" y="1503485"/>
            <a:ext cx="9144000" cy="4682270"/>
          </a:xfrm>
        </p:spPr>
        <p:txBody>
          <a:bodyPr>
            <a:normAutofit/>
          </a:bodyPr>
          <a:lstStyle/>
          <a:p>
            <a:pPr marL="457200" indent="-457200" algn="l" eaLnBrk="1" hangingPunct="1">
              <a:buSzPct val="50000"/>
              <a:buFont typeface="Wingdings" panose="05000000000000000000" pitchFamily="2" charset="2"/>
              <a:buChar char="l"/>
              <a:defRPr/>
            </a:pPr>
            <a:r>
              <a:rPr lang="zh-CN" altLang="en-US" dirty="0">
                <a:latin typeface="Times New Roman" panose="02020603050405020304" pitchFamily="18" charset="0"/>
                <a:cs typeface="Times New Roman" panose="02020603050405020304" pitchFamily="18" charset="0"/>
              </a:rPr>
              <a:t>吴天 </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特任副研究员</a:t>
            </a:r>
            <a:endParaRPr lang="en-US" altLang="zh-CN" dirty="0">
              <a:latin typeface="Times New Roman" panose="02020603050405020304" pitchFamily="18" charset="0"/>
              <a:cs typeface="Times New Roman" panose="02020603050405020304" pitchFamily="18" charset="0"/>
            </a:endParaRPr>
          </a:p>
          <a:p>
            <a:pPr marL="457200" indent="-457200" algn="l" eaLnBrk="1" hangingPunct="1">
              <a:buSzPct val="50000"/>
              <a:buFont typeface="Wingdings" panose="05000000000000000000" pitchFamily="2" charset="2"/>
              <a:buChar char="l"/>
              <a:defRPr/>
            </a:pPr>
            <a:r>
              <a:rPr lang="zh-CN" altLang="en-US" dirty="0">
                <a:latin typeface="Times New Roman" panose="02020603050405020304" pitchFamily="18" charset="0"/>
                <a:cs typeface="Times New Roman" panose="02020603050405020304" pitchFamily="18" charset="0"/>
              </a:rPr>
              <a:t>数学科学学院，计算与应用数学系</a:t>
            </a:r>
            <a:endParaRPr lang="en-US" altLang="zh-CN" dirty="0">
              <a:latin typeface="Times New Roman" panose="02020603050405020304" pitchFamily="18" charset="0"/>
              <a:cs typeface="Times New Roman" panose="02020603050405020304" pitchFamily="18" charset="0"/>
            </a:endParaRPr>
          </a:p>
          <a:p>
            <a:pPr marL="457200" indent="-457200" algn="l" eaLnBrk="1" hangingPunct="1">
              <a:buSzPct val="50000"/>
              <a:buFont typeface="Wingdings" panose="05000000000000000000" pitchFamily="2" charset="2"/>
              <a:buChar char="l"/>
              <a:defRPr/>
            </a:pPr>
            <a:r>
              <a:rPr lang="zh-CN" altLang="en-US" dirty="0">
                <a:latin typeface="Times New Roman" panose="02020603050405020304" pitchFamily="18" charset="0"/>
                <a:cs typeface="Times New Roman" panose="02020603050405020304" pitchFamily="18" charset="0"/>
              </a:rPr>
              <a:t>东校区，管理科研楼</a:t>
            </a:r>
            <a:r>
              <a:rPr lang="en-US" altLang="zh-CN" dirty="0">
                <a:latin typeface="Times New Roman" panose="02020603050405020304" pitchFamily="18" charset="0"/>
                <a:cs typeface="Times New Roman" panose="02020603050405020304" pitchFamily="18" charset="0"/>
              </a:rPr>
              <a:t>1404</a:t>
            </a:r>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wt1997@ustc.edu.cn</a:t>
            </a:r>
          </a:p>
          <a:p>
            <a:pPr marL="457200" indent="-457200" algn="l" eaLnBrk="1" hangingPunct="1">
              <a:buSzPct val="50000"/>
              <a:buFont typeface="Wingdings" panose="05000000000000000000" pitchFamily="2" charset="2"/>
              <a:buChar char="l"/>
              <a:defRPr/>
            </a:pPr>
            <a:r>
              <a:rPr lang="en-US" altLang="zh-CN" dirty="0">
                <a:latin typeface="Times New Roman" panose="02020603050405020304" pitchFamily="18" charset="0"/>
                <a:cs typeface="Times New Roman" panose="02020603050405020304" pitchFamily="18" charset="0"/>
                <a:hlinkClick r:id="rId3"/>
              </a:rPr>
              <a:t>http://home.ustc.edu.cn/~wt1997</a:t>
            </a:r>
            <a:endParaRPr lang="en-US" altLang="zh-CN" dirty="0">
              <a:latin typeface="Times New Roman" panose="02020603050405020304" pitchFamily="18" charset="0"/>
              <a:cs typeface="Times New Roman" panose="02020603050405020304" pitchFamily="18" charset="0"/>
            </a:endParaRPr>
          </a:p>
          <a:p>
            <a:pPr marL="457200" indent="-457200" algn="l" eaLnBrk="1" hangingPunct="1">
              <a:buSzPct val="50000"/>
              <a:buFont typeface="Wingdings" panose="05000000000000000000" pitchFamily="2" charset="2"/>
              <a:buChar char="l"/>
              <a:defRPr/>
            </a:pPr>
            <a:r>
              <a:rPr lang="en-US" altLang="zh-CN" dirty="0">
                <a:latin typeface="Times New Roman" panose="02020603050405020304" pitchFamily="18" charset="0"/>
                <a:cs typeface="Times New Roman" panose="02020603050405020304" pitchFamily="18" charset="0"/>
              </a:rPr>
              <a:t>2015.09-2019.06</a:t>
            </a:r>
            <a:r>
              <a:rPr lang="zh-CN" altLang="en-US" dirty="0">
                <a:latin typeface="Times New Roman" panose="02020603050405020304" pitchFamily="18" charset="0"/>
                <a:cs typeface="Times New Roman" panose="02020603050405020304" pitchFamily="18" charset="0"/>
              </a:rPr>
              <a:t>  少年班学院  数学与应用数学，本科</a:t>
            </a:r>
            <a:endParaRPr lang="en-US" altLang="zh-CN" dirty="0">
              <a:latin typeface="Times New Roman" panose="02020603050405020304" pitchFamily="18" charset="0"/>
              <a:cs typeface="Times New Roman" panose="02020603050405020304" pitchFamily="18" charset="0"/>
            </a:endParaRPr>
          </a:p>
          <a:p>
            <a:pPr marL="457200" indent="-457200" algn="l" eaLnBrk="1" hangingPunct="1">
              <a:buSzPct val="50000"/>
              <a:buFont typeface="Wingdings" panose="05000000000000000000" pitchFamily="2" charset="2"/>
              <a:buChar char="l"/>
              <a:defRPr/>
            </a:pPr>
            <a:r>
              <a:rPr lang="en-US" altLang="zh-CN" dirty="0">
                <a:latin typeface="Times New Roman" panose="02020603050405020304" pitchFamily="18" charset="0"/>
                <a:cs typeface="Times New Roman" panose="02020603050405020304" pitchFamily="18" charset="0"/>
              </a:rPr>
              <a:t>2019.09-2024.06</a:t>
            </a:r>
            <a:r>
              <a:rPr lang="zh-CN" altLang="en-US" dirty="0">
                <a:latin typeface="Times New Roman" panose="02020603050405020304" pitchFamily="18" charset="0"/>
                <a:cs typeface="Times New Roman" panose="02020603050405020304" pitchFamily="18" charset="0"/>
              </a:rPr>
              <a:t>  数学科学学院  基础数学，博士</a:t>
            </a:r>
            <a:endParaRPr lang="en-US" altLang="zh-CN" dirty="0">
              <a:latin typeface="Times New Roman" panose="02020603050405020304" pitchFamily="18" charset="0"/>
              <a:cs typeface="Times New Roman" panose="02020603050405020304" pitchFamily="18" charset="0"/>
            </a:endParaRPr>
          </a:p>
          <a:p>
            <a:pPr marL="457200" indent="-457200" algn="l" eaLnBrk="1" hangingPunct="1">
              <a:buSzPct val="50000"/>
              <a:buFont typeface="Wingdings" panose="05000000000000000000" pitchFamily="2" charset="2"/>
              <a:buChar char="l"/>
              <a:defRPr/>
            </a:pPr>
            <a:r>
              <a:rPr lang="en-US" altLang="zh-CN" dirty="0">
                <a:latin typeface="Times New Roman" panose="02020603050405020304" pitchFamily="18" charset="0"/>
                <a:cs typeface="Times New Roman" panose="02020603050405020304" pitchFamily="18" charset="0"/>
              </a:rPr>
              <a:t>2024.09-2026.06</a:t>
            </a:r>
            <a:r>
              <a:rPr lang="zh-CN" altLang="en-US" dirty="0">
                <a:latin typeface="Times New Roman" panose="02020603050405020304" pitchFamily="18" charset="0"/>
                <a:cs typeface="Times New Roman" panose="02020603050405020304" pitchFamily="18" charset="0"/>
              </a:rPr>
              <a:t>  数学科学学院  博士后研究员</a:t>
            </a:r>
            <a:endParaRPr lang="en-US" altLang="zh-CN" dirty="0">
              <a:latin typeface="Times New Roman" panose="02020603050405020304" pitchFamily="18" charset="0"/>
              <a:cs typeface="Times New Roman" panose="02020603050405020304" pitchFamily="18" charset="0"/>
            </a:endParaRPr>
          </a:p>
          <a:p>
            <a:pPr marL="457200" indent="-457200" algn="l" eaLnBrk="1" hangingPunct="1">
              <a:buSzPct val="50000"/>
              <a:buFont typeface="Wingdings" panose="05000000000000000000" pitchFamily="2" charset="2"/>
              <a:buChar char="l"/>
              <a:defRPr/>
            </a:pPr>
            <a:r>
              <a:rPr lang="en-US" altLang="zh-CN" dirty="0">
                <a:latin typeface="Times New Roman" panose="02020603050405020304" pitchFamily="18" charset="0"/>
                <a:cs typeface="Times New Roman" panose="02020603050405020304" pitchFamily="18" charset="0"/>
              </a:rPr>
              <a:t>2026.07</a:t>
            </a:r>
            <a:r>
              <a:rPr lang="zh-CN" altLang="en-US" dirty="0">
                <a:latin typeface="Times New Roman" panose="02020603050405020304" pitchFamily="18" charset="0"/>
                <a:cs typeface="Times New Roman" panose="02020603050405020304" pitchFamily="18" charset="0"/>
              </a:rPr>
              <a:t>至今        数学科学学院  特任副研究员</a:t>
            </a:r>
            <a:endParaRPr lang="en-US" altLang="zh-CN" dirty="0">
              <a:latin typeface="Times New Roman" panose="02020603050405020304" pitchFamily="18" charset="0"/>
              <a:cs typeface="Times New Roman" panose="02020603050405020304" pitchFamily="18" charset="0"/>
            </a:endParaRPr>
          </a:p>
          <a:p>
            <a:pPr marL="0" indent="0" algn="l" eaLnBrk="1" hangingPunct="1">
              <a:buSzPct val="50000"/>
              <a:buNone/>
              <a:defRPr/>
            </a:pPr>
            <a:endParaRPr lang="en-US" altLang="zh-CN" dirty="0">
              <a:latin typeface="Times New Roman" panose="02020603050405020304" pitchFamily="18" charset="0"/>
              <a:cs typeface="Times New Roman" panose="02020603050405020304" pitchFamily="18" charset="0"/>
            </a:endParaRPr>
          </a:p>
        </p:txBody>
      </p:sp>
      <p:sp>
        <p:nvSpPr>
          <p:cNvPr id="3076" name="Rectangle 11"/>
          <p:cNvSpPr>
            <a:spLocks noGrp="1" noChangeArrowheads="1"/>
          </p:cNvSpPr>
          <p:nvPr>
            <p:ph type="title"/>
          </p:nvPr>
        </p:nvSpPr>
        <p:spPr>
          <a:xfrm>
            <a:off x="1858108" y="498170"/>
            <a:ext cx="5029200" cy="563562"/>
          </a:xfrm>
        </p:spPr>
        <p:txBody>
          <a:bodyPr>
            <a:normAutofit fontScale="90000"/>
          </a:bodyPr>
          <a:lstStyle/>
          <a:p>
            <a:pPr eaLnBrk="1" hangingPunct="1"/>
            <a:r>
              <a:rPr lang="zh-CN" altLang="en-US" sz="4000" dirty="0">
                <a:solidFill>
                  <a:srgbClr val="FFFF00"/>
                </a:solidFill>
                <a:latin typeface="黑体" panose="02010609060101010101" pitchFamily="49" charset="-122"/>
                <a:ea typeface="黑体" panose="02010609060101010101" pitchFamily="49" charset="-122"/>
              </a:rPr>
              <a:t>个人信息</a:t>
            </a:r>
            <a:endParaRPr lang="zh-CN" altLang="zh-CN" sz="4000" baseline="0" dirty="0">
              <a:solidFill>
                <a:srgbClr val="FFFF00"/>
              </a:solidFill>
              <a:latin typeface="黑体" panose="02010609060101010101" pitchFamily="49" charset="-122"/>
              <a:ea typeface="黑体" panose="02010609060101010101" pitchFamily="49" charset="-122"/>
            </a:endParaRPr>
          </a:p>
        </p:txBody>
      </p:sp>
      <p:pic>
        <p:nvPicPr>
          <p:cNvPr id="3" name="图片 2">
            <a:extLst>
              <a:ext uri="{FF2B5EF4-FFF2-40B4-BE49-F238E27FC236}">
                <a16:creationId xmlns:a16="http://schemas.microsoft.com/office/drawing/2014/main" id="{DF379B70-DE98-D6EE-14EA-791B534BC7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21377" y="3601088"/>
            <a:ext cx="2819400" cy="2438400"/>
          </a:xfrm>
          <a:prstGeom prst="rect">
            <a:avLst/>
          </a:prstGeom>
        </p:spPr>
      </p:pic>
    </p:spTree>
    <p:extLst>
      <p:ext uri="{BB962C8B-B14F-4D97-AF65-F5344CB8AC3E}">
        <p14:creationId xmlns:p14="http://schemas.microsoft.com/office/powerpoint/2010/main" val="1533941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8" descr="PPT内页副本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961" y="289047"/>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8" name="Rectangle 10"/>
          <p:cNvSpPr>
            <a:spLocks noGrp="1" noChangeArrowheads="1"/>
          </p:cNvSpPr>
          <p:nvPr>
            <p:ph type="body" idx="1"/>
          </p:nvPr>
        </p:nvSpPr>
        <p:spPr>
          <a:xfrm>
            <a:off x="1567961" y="1503485"/>
            <a:ext cx="9144000" cy="4682270"/>
          </a:xfrm>
        </p:spPr>
        <p:txBody>
          <a:bodyPr>
            <a:normAutofit/>
          </a:bodyPr>
          <a:lstStyle/>
          <a:p>
            <a:pPr marL="457200" indent="-457200" algn="l" eaLnBrk="1" hangingPunct="1">
              <a:buSzPct val="50000"/>
              <a:buFont typeface="Wingdings" panose="05000000000000000000" pitchFamily="2" charset="2"/>
              <a:buChar char="l"/>
              <a:defRPr/>
            </a:pPr>
            <a:r>
              <a:rPr lang="zh-CN" altLang="en-US" dirty="0">
                <a:latin typeface="Times New Roman" panose="02020603050405020304" pitchFamily="18" charset="0"/>
                <a:cs typeface="Times New Roman" panose="02020603050405020304" pitchFamily="18" charset="0"/>
              </a:rPr>
              <a:t>钱昊程</a:t>
            </a:r>
            <a:endParaRPr lang="en-US" altLang="zh-CN" dirty="0">
              <a:latin typeface="Times New Roman" panose="02020603050405020304" pitchFamily="18" charset="0"/>
              <a:cs typeface="Times New Roman" panose="02020603050405020304" pitchFamily="18" charset="0"/>
            </a:endParaRPr>
          </a:p>
          <a:p>
            <a:pPr marL="457200" indent="-457200" algn="l" eaLnBrk="1" hangingPunct="1">
              <a:buSzPct val="50000"/>
              <a:buFont typeface="Wingdings" panose="05000000000000000000" pitchFamily="2" charset="2"/>
              <a:buChar char="l"/>
              <a:defRPr/>
            </a:pPr>
            <a:r>
              <a:rPr lang="zh-CN" altLang="en-US" dirty="0">
                <a:latin typeface="Times New Roman" panose="02020603050405020304" pitchFamily="18" charset="0"/>
                <a:cs typeface="Times New Roman" panose="02020603050405020304" pitchFamily="18" charset="0"/>
              </a:rPr>
              <a:t>朱浩然</a:t>
            </a:r>
            <a:endParaRPr lang="en-US" altLang="zh-CN" dirty="0">
              <a:latin typeface="Times New Roman" panose="02020603050405020304" pitchFamily="18" charset="0"/>
              <a:cs typeface="Times New Roman" panose="02020603050405020304" pitchFamily="18" charset="0"/>
            </a:endParaRPr>
          </a:p>
          <a:p>
            <a:pPr marL="457200" indent="-457200">
              <a:buSzPct val="50000"/>
              <a:buFont typeface="Wingdings" panose="05000000000000000000" pitchFamily="2" charset="2"/>
              <a:buChar char="l"/>
              <a:defRPr/>
            </a:pPr>
            <a:r>
              <a:rPr lang="zh-CN" altLang="en-US" dirty="0">
                <a:latin typeface="Times New Roman" panose="02020603050405020304" pitchFamily="18" charset="0"/>
                <a:cs typeface="Times New Roman" panose="02020603050405020304" pitchFamily="18" charset="0"/>
              </a:rPr>
              <a:t>毕竟东</a:t>
            </a:r>
            <a:endParaRPr lang="en-US" altLang="zh-CN" dirty="0">
              <a:latin typeface="Times New Roman" panose="02020603050405020304" pitchFamily="18" charset="0"/>
              <a:cs typeface="Times New Roman" panose="02020603050405020304" pitchFamily="18" charset="0"/>
            </a:endParaRPr>
          </a:p>
          <a:p>
            <a:pPr marL="457200" indent="-457200">
              <a:buSzPct val="50000"/>
              <a:buFont typeface="Wingdings" panose="05000000000000000000" pitchFamily="2" charset="2"/>
              <a:buChar char="l"/>
              <a:defRPr/>
            </a:pPr>
            <a:r>
              <a:rPr lang="zh-CN" altLang="en-US" dirty="0">
                <a:latin typeface="Times New Roman" panose="02020603050405020304" pitchFamily="18" charset="0"/>
                <a:cs typeface="Times New Roman" panose="02020603050405020304" pitchFamily="18" charset="0"/>
              </a:rPr>
              <a:t>本课程</a:t>
            </a:r>
            <a:r>
              <a:rPr lang="en-US" altLang="zh-CN" dirty="0">
                <a:latin typeface="Times New Roman" panose="02020603050405020304" pitchFamily="18" charset="0"/>
                <a:cs typeface="Times New Roman" panose="02020603050405020304" pitchFamily="18" charset="0"/>
              </a:rPr>
              <a:t>QQ</a:t>
            </a:r>
            <a:r>
              <a:rPr lang="zh-CN" altLang="en-US" dirty="0">
                <a:latin typeface="Times New Roman" panose="02020603050405020304" pitchFamily="18" charset="0"/>
                <a:cs typeface="Times New Roman" panose="02020603050405020304" pitchFamily="18" charset="0"/>
              </a:rPr>
              <a:t>群：</a:t>
            </a:r>
            <a:r>
              <a:rPr lang="en-US" altLang="zh-CN" dirty="0">
                <a:latin typeface="Times New Roman" panose="02020603050405020304" pitchFamily="18" charset="0"/>
                <a:cs typeface="Times New Roman" panose="02020603050405020304" pitchFamily="18" charset="0"/>
              </a:rPr>
              <a:t>1121233716</a:t>
            </a:r>
          </a:p>
        </p:txBody>
      </p:sp>
      <p:sp>
        <p:nvSpPr>
          <p:cNvPr id="3076" name="Rectangle 11"/>
          <p:cNvSpPr>
            <a:spLocks noGrp="1" noChangeArrowheads="1"/>
          </p:cNvSpPr>
          <p:nvPr>
            <p:ph type="title"/>
          </p:nvPr>
        </p:nvSpPr>
        <p:spPr>
          <a:xfrm>
            <a:off x="1858108" y="498170"/>
            <a:ext cx="5029200" cy="563562"/>
          </a:xfrm>
        </p:spPr>
        <p:txBody>
          <a:bodyPr>
            <a:normAutofit fontScale="90000"/>
          </a:bodyPr>
          <a:lstStyle/>
          <a:p>
            <a:pPr eaLnBrk="1" hangingPunct="1"/>
            <a:r>
              <a:rPr lang="zh-CN" altLang="en-US" sz="4000" dirty="0">
                <a:solidFill>
                  <a:srgbClr val="FFFF00"/>
                </a:solidFill>
                <a:latin typeface="黑体" panose="02010609060101010101" pitchFamily="49" charset="-122"/>
                <a:ea typeface="黑体" panose="02010609060101010101" pitchFamily="49" charset="-122"/>
              </a:rPr>
              <a:t>助教团队</a:t>
            </a:r>
            <a:endParaRPr lang="zh-CN" altLang="zh-CN" sz="4000" baseline="0" dirty="0">
              <a:solidFill>
                <a:srgbClr val="FFFF00"/>
              </a:solidFill>
              <a:latin typeface="黑体" panose="02010609060101010101" pitchFamily="49" charset="-122"/>
              <a:ea typeface="黑体" panose="02010609060101010101" pitchFamily="49" charset="-122"/>
            </a:endParaRPr>
          </a:p>
        </p:txBody>
      </p:sp>
      <p:pic>
        <p:nvPicPr>
          <p:cNvPr id="4" name="图片 3">
            <a:extLst>
              <a:ext uri="{FF2B5EF4-FFF2-40B4-BE49-F238E27FC236}">
                <a16:creationId xmlns:a16="http://schemas.microsoft.com/office/drawing/2014/main" id="{E6768884-8853-60A4-BF5D-7B590DF2DE62}"/>
              </a:ext>
            </a:extLst>
          </p:cNvPr>
          <p:cNvPicPr>
            <a:picLocks noChangeAspect="1"/>
          </p:cNvPicPr>
          <p:nvPr/>
        </p:nvPicPr>
        <p:blipFill>
          <a:blip r:embed="rId3">
            <a:extLst>
              <a:ext uri="{28A0092B-C50C-407E-A947-70E740481C1C}">
                <a14:useLocalDpi xmlns:a14="http://schemas.microsoft.com/office/drawing/2010/main" val="0"/>
              </a:ext>
            </a:extLst>
          </a:blip>
          <a:srcRect t="12560" r="5836" b="12139"/>
          <a:stretch/>
        </p:blipFill>
        <p:spPr>
          <a:xfrm rot="16200000">
            <a:off x="3505547" y="-547854"/>
            <a:ext cx="5305499" cy="9180670"/>
          </a:xfrm>
          <a:prstGeom prst="rect">
            <a:avLst/>
          </a:prstGeom>
        </p:spPr>
      </p:pic>
    </p:spTree>
    <p:extLst>
      <p:ext uri="{BB962C8B-B14F-4D97-AF65-F5344CB8AC3E}">
        <p14:creationId xmlns:p14="http://schemas.microsoft.com/office/powerpoint/2010/main" val="1743776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9" dur="1" fill="hold">
                                          <p:stCondLst>
                                            <p:cond delay="0"/>
                                          </p:stCondLst>
                                        </p:cTn>
                                        <p:tgtEl>
                                          <p:spTgt spid="7178">
                                            <p:txEl>
                                              <p:pRg st="0" end="0"/>
                                            </p:txEl>
                                          </p:spTgt>
                                        </p:tgtEl>
                                        <p:attrNameLst>
                                          <p:attrName>style.visibility</p:attrName>
                                        </p:attrNameLst>
                                      </p:cBhvr>
                                      <p:to>
                                        <p:strVal val="visible"/>
                                      </p:to>
                                    </p:set>
                                    <p:animEffect transition="in" filter="fade">
                                      <p:cBhvr>
                                        <p:cTn id="10" dur="500"/>
                                        <p:tgtEl>
                                          <p:spTgt spid="7178">
                                            <p:txEl>
                                              <p:pRg st="0" end="0"/>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178">
                                            <p:txEl>
                                              <p:pRg st="1" end="1"/>
                                            </p:txEl>
                                          </p:spTgt>
                                        </p:tgtEl>
                                        <p:attrNameLst>
                                          <p:attrName>style.visibility</p:attrName>
                                        </p:attrNameLst>
                                      </p:cBhvr>
                                      <p:to>
                                        <p:strVal val="visible"/>
                                      </p:to>
                                    </p:set>
                                    <p:animEffect transition="in" filter="fade">
                                      <p:cBhvr>
                                        <p:cTn id="13" dur="500"/>
                                        <p:tgtEl>
                                          <p:spTgt spid="7178">
                                            <p:txEl>
                                              <p:pRg st="1" end="1"/>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178">
                                            <p:txEl>
                                              <p:pRg st="2" end="2"/>
                                            </p:txEl>
                                          </p:spTgt>
                                        </p:tgtEl>
                                        <p:attrNameLst>
                                          <p:attrName>style.visibility</p:attrName>
                                        </p:attrNameLst>
                                      </p:cBhvr>
                                      <p:to>
                                        <p:strVal val="visible"/>
                                      </p:to>
                                    </p:set>
                                    <p:animEffect transition="in" filter="fade">
                                      <p:cBhvr>
                                        <p:cTn id="16" dur="500"/>
                                        <p:tgtEl>
                                          <p:spTgt spid="7178">
                                            <p:txEl>
                                              <p:pRg st="2" end="2"/>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178">
                                            <p:txEl>
                                              <p:pRg st="3" end="3"/>
                                            </p:txEl>
                                          </p:spTgt>
                                        </p:tgtEl>
                                        <p:attrNameLst>
                                          <p:attrName>style.visibility</p:attrName>
                                        </p:attrNameLst>
                                      </p:cBhvr>
                                      <p:to>
                                        <p:strVal val="visible"/>
                                      </p:to>
                                    </p:set>
                                    <p:animEffect transition="in" filter="fade">
                                      <p:cBhvr>
                                        <p:cTn id="19" dur="500"/>
                                        <p:tgtEl>
                                          <p:spTgt spid="717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8"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8" descr="PPT内页副本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961" y="289047"/>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8" name="Rectangle 10"/>
          <p:cNvSpPr>
            <a:spLocks noGrp="1" noChangeArrowheads="1"/>
          </p:cNvSpPr>
          <p:nvPr>
            <p:ph type="body" idx="1"/>
          </p:nvPr>
        </p:nvSpPr>
        <p:spPr>
          <a:xfrm>
            <a:off x="1567961" y="1503485"/>
            <a:ext cx="9144000" cy="4682270"/>
          </a:xfrm>
        </p:spPr>
        <p:txBody>
          <a:bodyPr>
            <a:normAutofit/>
          </a:bodyPr>
          <a:lstStyle/>
          <a:p>
            <a:pPr marL="457200" indent="-457200" algn="l" eaLnBrk="1" hangingPunct="1">
              <a:buSzPct val="50000"/>
              <a:buFont typeface="Wingdings" panose="05000000000000000000" pitchFamily="2" charset="2"/>
              <a:buChar char="l"/>
              <a:defRPr/>
            </a:pPr>
            <a:r>
              <a:rPr lang="zh-CN" altLang="en-US" sz="2800" baseline="0" dirty="0">
                <a:latin typeface="华文行楷" panose="02010800040101010101" pitchFamily="2" charset="-122"/>
                <a:ea typeface="华文行楷" panose="02010800040101010101" pitchFamily="2" charset="-122"/>
              </a:rPr>
              <a:t>分析学</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数学的一个重要分支</a:t>
            </a:r>
            <a:endParaRPr lang="en-US" altLang="zh-CN" dirty="0">
              <a:latin typeface="Times New Roman" panose="02020603050405020304" pitchFamily="18" charset="0"/>
              <a:cs typeface="Times New Roman" panose="02020603050405020304" pitchFamily="18" charset="0"/>
            </a:endParaRPr>
          </a:p>
          <a:p>
            <a:pPr marL="457200" indent="-457200" algn="l" eaLnBrk="1" hangingPunct="1">
              <a:buSzPct val="50000"/>
              <a:buFont typeface="Wingdings" panose="05000000000000000000" pitchFamily="2" charset="2"/>
              <a:buChar char="l"/>
              <a:defRPr/>
            </a:pPr>
            <a:r>
              <a:rPr lang="zh-CN" altLang="en-US" dirty="0">
                <a:latin typeface="Times New Roman" panose="02020603050405020304" pitchFamily="18" charset="0"/>
                <a:cs typeface="Times New Roman" panose="02020603050405020304" pitchFamily="18" charset="0"/>
              </a:rPr>
              <a:t>以</a:t>
            </a:r>
            <a:r>
              <a:rPr lang="zh-CN" altLang="en-US" sz="2800" baseline="0" dirty="0">
                <a:latin typeface="华文行楷" panose="02010800040101010101" pitchFamily="2" charset="-122"/>
                <a:ea typeface="华文行楷" panose="02010800040101010101" pitchFamily="2" charset="-122"/>
              </a:rPr>
              <a:t>微积分</a:t>
            </a:r>
            <a:r>
              <a:rPr lang="zh-CN" altLang="en-US" dirty="0">
                <a:latin typeface="Times New Roman" panose="02020603050405020304" pitchFamily="18" charset="0"/>
                <a:cs typeface="Times New Roman" panose="02020603050405020304" pitchFamily="18" charset="0"/>
              </a:rPr>
              <a:t>为基本工具</a:t>
            </a:r>
            <a:endParaRPr lang="en-US" altLang="zh-CN" dirty="0">
              <a:latin typeface="Times New Roman" panose="02020603050405020304" pitchFamily="18" charset="0"/>
              <a:cs typeface="Times New Roman" panose="02020603050405020304" pitchFamily="18" charset="0"/>
            </a:endParaRPr>
          </a:p>
          <a:p>
            <a:pPr marL="457200" indent="-457200" algn="l" eaLnBrk="1" hangingPunct="1">
              <a:buSzPct val="50000"/>
              <a:buFont typeface="Wingdings" panose="05000000000000000000" pitchFamily="2" charset="2"/>
              <a:buChar char="l"/>
              <a:defRPr/>
            </a:pPr>
            <a:r>
              <a:rPr lang="zh-CN" altLang="en-US" dirty="0">
                <a:latin typeface="Times New Roman" panose="02020603050405020304" pitchFamily="18" charset="0"/>
                <a:cs typeface="Times New Roman" panose="02020603050405020304" pitchFamily="18" charset="0"/>
              </a:rPr>
              <a:t>研究对象</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主要是</a:t>
            </a:r>
            <a:r>
              <a:rPr lang="zh-CN" altLang="en-US" sz="2800" baseline="0" dirty="0">
                <a:latin typeface="华文行楷" panose="02010800040101010101" pitchFamily="2" charset="-122"/>
                <a:ea typeface="华文行楷" panose="02010800040101010101" pitchFamily="2" charset="-122"/>
              </a:rPr>
              <a:t>函数</a:t>
            </a:r>
            <a:endParaRPr lang="en-US" altLang="zh-CN" sz="2800" baseline="0" dirty="0">
              <a:latin typeface="华文行楷" panose="02010800040101010101" pitchFamily="2" charset="-122"/>
              <a:ea typeface="华文行楷" panose="02010800040101010101" pitchFamily="2" charset="-122"/>
            </a:endParaRPr>
          </a:p>
          <a:p>
            <a:pPr marL="457200" indent="-457200" algn="l" eaLnBrk="1" hangingPunct="1">
              <a:buSzPct val="50000"/>
              <a:buFont typeface="Wingdings" panose="05000000000000000000" pitchFamily="2" charset="2"/>
              <a:buChar char="l"/>
              <a:defRPr/>
            </a:pPr>
            <a:r>
              <a:rPr lang="zh-CN" altLang="en-US" sz="2800" baseline="0" dirty="0">
                <a:latin typeface="华文行楷" panose="02010800040101010101" pitchFamily="2" charset="-122"/>
                <a:ea typeface="华文行楷" panose="02010800040101010101" pitchFamily="2" charset="-122"/>
              </a:rPr>
              <a:t>数学分析</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狭义上的分析</a:t>
            </a:r>
            <a:endParaRPr lang="en-US" altLang="zh-CN" dirty="0">
              <a:latin typeface="Times New Roman" panose="02020603050405020304" pitchFamily="18" charset="0"/>
              <a:cs typeface="Times New Roman" panose="02020603050405020304" pitchFamily="18" charset="0"/>
            </a:endParaRPr>
          </a:p>
          <a:p>
            <a:pPr marL="457200" indent="-457200" algn="l" eaLnBrk="1" hangingPunct="1">
              <a:buSzPct val="50000"/>
              <a:buFont typeface="Wingdings" panose="05000000000000000000" pitchFamily="2" charset="2"/>
              <a:buChar char="l"/>
              <a:defRPr/>
            </a:pPr>
            <a:r>
              <a:rPr lang="zh-CN" altLang="en-US" sz="2800" baseline="0" dirty="0">
                <a:latin typeface="+mj-lt"/>
                <a:ea typeface="华文行楷" panose="02010800040101010101" pitchFamily="2" charset="-122"/>
              </a:rPr>
              <a:t>微分方程、函数论、变分法、实变函数、复变函数、泛函分析、调和分析、抽象测度论、微分流形、数值分析、逼近论</a:t>
            </a:r>
            <a:r>
              <a:rPr lang="en-US" altLang="zh-CN" sz="2800" baseline="0" dirty="0">
                <a:latin typeface="+mj-lt"/>
                <a:ea typeface="华文行楷" panose="02010800040101010101" pitchFamily="2" charset="-122"/>
              </a:rPr>
              <a:t>……</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广义上的分析</a:t>
            </a:r>
            <a:endParaRPr lang="zh-CN" altLang="zh-CN" dirty="0">
              <a:latin typeface="Times New Roman" panose="02020603050405020304" pitchFamily="18" charset="0"/>
              <a:cs typeface="Times New Roman" panose="02020603050405020304" pitchFamily="18" charset="0"/>
            </a:endParaRPr>
          </a:p>
        </p:txBody>
      </p:sp>
      <p:sp>
        <p:nvSpPr>
          <p:cNvPr id="3076" name="Rectangle 11"/>
          <p:cNvSpPr>
            <a:spLocks noGrp="1" noChangeArrowheads="1"/>
          </p:cNvSpPr>
          <p:nvPr>
            <p:ph type="title"/>
          </p:nvPr>
        </p:nvSpPr>
        <p:spPr>
          <a:xfrm>
            <a:off x="1858108" y="498170"/>
            <a:ext cx="5029200" cy="563562"/>
          </a:xfrm>
        </p:spPr>
        <p:txBody>
          <a:bodyPr>
            <a:normAutofit fontScale="90000"/>
          </a:bodyPr>
          <a:lstStyle/>
          <a:p>
            <a:pPr eaLnBrk="1" hangingPunct="1"/>
            <a:r>
              <a:rPr lang="zh-CN" altLang="en-US" sz="4000" baseline="0" dirty="0">
                <a:solidFill>
                  <a:srgbClr val="FFFF00"/>
                </a:solidFill>
                <a:latin typeface="黑体" panose="02010609060101010101" pitchFamily="49" charset="-122"/>
                <a:ea typeface="黑体" panose="02010609060101010101" pitchFamily="49" charset="-122"/>
              </a:rPr>
              <a:t>何为分析？</a:t>
            </a:r>
            <a:endParaRPr lang="zh-CN" altLang="zh-CN" sz="4000" baseline="0" dirty="0">
              <a:solidFill>
                <a:srgbClr val="FFFF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998687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8" descr="PPT内页副本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961" y="289047"/>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8" name="Rectangle 10"/>
          <p:cNvSpPr>
            <a:spLocks noGrp="1" noChangeArrowheads="1"/>
          </p:cNvSpPr>
          <p:nvPr>
            <p:ph type="body" idx="1"/>
          </p:nvPr>
        </p:nvSpPr>
        <p:spPr>
          <a:xfrm>
            <a:off x="1567961" y="1503485"/>
            <a:ext cx="9144000" cy="4682270"/>
          </a:xfrm>
        </p:spPr>
        <p:txBody>
          <a:bodyPr>
            <a:normAutofit/>
          </a:bodyPr>
          <a:lstStyle/>
          <a:p>
            <a:pPr eaLnBrk="1" hangingPunct="1">
              <a:defRPr/>
            </a:pPr>
            <a:r>
              <a:rPr lang="zh-CN" altLang="en-US" dirty="0">
                <a:latin typeface="华文行楷" panose="02010800040101010101" pitchFamily="2" charset="-122"/>
                <a:ea typeface="华文行楷" panose="02010800040101010101" pitchFamily="2" charset="-122"/>
              </a:rPr>
              <a:t>高级微积分</a:t>
            </a:r>
            <a:endParaRPr lang="en-US" altLang="zh-CN" dirty="0">
              <a:latin typeface="华文行楷" panose="02010800040101010101" pitchFamily="2" charset="-122"/>
              <a:ea typeface="华文行楷" panose="02010800040101010101" pitchFamily="2" charset="-122"/>
            </a:endParaRPr>
          </a:p>
          <a:p>
            <a:pPr eaLnBrk="1" hangingPunct="1">
              <a:defRPr/>
            </a:pPr>
            <a:r>
              <a:rPr lang="zh-CN" altLang="en-US" dirty="0">
                <a:latin typeface="+mn-ea"/>
              </a:rPr>
              <a:t>高级在哪儿？</a:t>
            </a:r>
            <a:endParaRPr lang="en-US" altLang="zh-CN" dirty="0">
              <a:latin typeface="+mj-lt"/>
            </a:endParaRPr>
          </a:p>
          <a:p>
            <a:pPr eaLnBrk="1" hangingPunct="1">
              <a:defRPr/>
            </a:pPr>
            <a:r>
              <a:rPr lang="zh-CN" altLang="en-US" dirty="0">
                <a:latin typeface="+mj-lt"/>
              </a:rPr>
              <a:t>    </a:t>
            </a:r>
            <a:r>
              <a:rPr lang="zh-CN" altLang="en-US" dirty="0">
                <a:latin typeface="华文行楷" panose="02010800040101010101" pitchFamily="2" charset="-122"/>
                <a:ea typeface="华文行楷" panose="02010800040101010101" pitchFamily="2" charset="-122"/>
              </a:rPr>
              <a:t>证明</a:t>
            </a:r>
            <a:r>
              <a:rPr lang="zh-CN" altLang="en-US" dirty="0">
                <a:latin typeface="+mj-lt"/>
              </a:rPr>
              <a:t>比重较大</a:t>
            </a:r>
            <a:endParaRPr lang="en-US" altLang="zh-CN" dirty="0">
              <a:latin typeface="+mn-ea"/>
            </a:endParaRPr>
          </a:p>
          <a:p>
            <a:pPr eaLnBrk="1" hangingPunct="1">
              <a:defRPr/>
            </a:pPr>
            <a:r>
              <a:rPr lang="en-US" altLang="zh-CN" dirty="0">
                <a:latin typeface="+mn-ea"/>
              </a:rPr>
              <a:t>    </a:t>
            </a:r>
            <a:r>
              <a:rPr lang="zh-CN" altLang="en-US" dirty="0">
                <a:solidFill>
                  <a:srgbClr val="FF0000"/>
                </a:solidFill>
                <a:latin typeface="华文行楷" panose="02010800040101010101" pitchFamily="2" charset="-122"/>
                <a:ea typeface="华文行楷" panose="02010800040101010101" pitchFamily="2" charset="-122"/>
              </a:rPr>
              <a:t>实数理论</a:t>
            </a:r>
            <a:r>
              <a:rPr lang="zh-CN" altLang="en-US" dirty="0">
                <a:latin typeface="+mn-ea"/>
              </a:rPr>
              <a:t>涉及更多</a:t>
            </a:r>
            <a:endParaRPr lang="en-US" altLang="zh-CN" dirty="0">
              <a:latin typeface="+mn-ea"/>
            </a:endParaRPr>
          </a:p>
          <a:p>
            <a:pPr eaLnBrk="1" hangingPunct="1">
              <a:defRPr/>
            </a:pPr>
            <a:r>
              <a:rPr lang="en-US" altLang="zh-CN" dirty="0">
                <a:latin typeface="+mn-ea"/>
              </a:rPr>
              <a:t>    </a:t>
            </a:r>
            <a:r>
              <a:rPr lang="zh-CN" altLang="en-US" dirty="0">
                <a:latin typeface="+mn-ea"/>
              </a:rPr>
              <a:t>更加注重分析学的</a:t>
            </a:r>
            <a:r>
              <a:rPr lang="zh-CN" altLang="en-US" dirty="0">
                <a:latin typeface="华文行楷" panose="02010800040101010101" pitchFamily="2" charset="-122"/>
                <a:ea typeface="华文行楷" panose="02010800040101010101" pitchFamily="2" charset="-122"/>
              </a:rPr>
              <a:t>思想方法</a:t>
            </a:r>
            <a:endParaRPr lang="en-US" altLang="zh-CN" dirty="0">
              <a:latin typeface="+mn-ea"/>
            </a:endParaRPr>
          </a:p>
          <a:p>
            <a:pPr eaLnBrk="1" hangingPunct="1">
              <a:defRPr/>
            </a:pPr>
            <a:r>
              <a:rPr lang="zh-CN" altLang="en-US" dirty="0">
                <a:latin typeface="+mn-ea"/>
              </a:rPr>
              <a:t>微积分推动了分析学的产生</a:t>
            </a:r>
            <a:endParaRPr lang="en-US" altLang="zh-CN" dirty="0">
              <a:latin typeface="+mn-ea"/>
            </a:endParaRPr>
          </a:p>
          <a:p>
            <a:pPr eaLnBrk="1" hangingPunct="1">
              <a:defRPr/>
            </a:pPr>
            <a:r>
              <a:rPr lang="zh-CN" altLang="en-US" dirty="0">
                <a:latin typeface="华文彩云" panose="02010800040101010101" pitchFamily="2" charset="-122"/>
                <a:ea typeface="华文彩云" panose="02010800040101010101" pitchFamily="2" charset="-122"/>
              </a:rPr>
              <a:t>对于实数系，你真的很熟悉吗？</a:t>
            </a:r>
            <a:endParaRPr lang="en-US" altLang="zh-CN" dirty="0">
              <a:latin typeface="华文彩云" panose="02010800040101010101" pitchFamily="2" charset="-122"/>
              <a:ea typeface="华文彩云" panose="02010800040101010101" pitchFamily="2" charset="-122"/>
            </a:endParaRPr>
          </a:p>
        </p:txBody>
      </p:sp>
      <p:sp>
        <p:nvSpPr>
          <p:cNvPr id="3076" name="Rectangle 11"/>
          <p:cNvSpPr>
            <a:spLocks noGrp="1" noChangeArrowheads="1"/>
          </p:cNvSpPr>
          <p:nvPr>
            <p:ph type="title"/>
          </p:nvPr>
        </p:nvSpPr>
        <p:spPr>
          <a:xfrm>
            <a:off x="1858108" y="498170"/>
            <a:ext cx="5029200" cy="563562"/>
          </a:xfrm>
        </p:spPr>
        <p:txBody>
          <a:bodyPr>
            <a:normAutofit fontScale="90000"/>
          </a:bodyPr>
          <a:lstStyle/>
          <a:p>
            <a:pPr eaLnBrk="1" hangingPunct="1"/>
            <a:r>
              <a:rPr lang="zh-CN" altLang="en-US" sz="4000" baseline="0" dirty="0">
                <a:solidFill>
                  <a:srgbClr val="FFFF00"/>
                </a:solidFill>
                <a:latin typeface="黑体" panose="02010609060101010101" pitchFamily="49" charset="-122"/>
                <a:ea typeface="黑体" panose="02010609060101010101" pitchFamily="49" charset="-122"/>
              </a:rPr>
              <a:t>何为数学分析？</a:t>
            </a:r>
            <a:endParaRPr lang="zh-CN" altLang="zh-CN" sz="4000" baseline="0" dirty="0">
              <a:solidFill>
                <a:srgbClr val="FFFF00"/>
              </a:solidFill>
              <a:latin typeface="黑体" panose="02010609060101010101" pitchFamily="49" charset="-122"/>
              <a:ea typeface="黑体" panose="02010609060101010101" pitchFamily="49" charset="-122"/>
            </a:endParaRPr>
          </a:p>
        </p:txBody>
      </p:sp>
      <p:pic>
        <p:nvPicPr>
          <p:cNvPr id="2" name="图片 1">
            <a:extLst>
              <a:ext uri="{FF2B5EF4-FFF2-40B4-BE49-F238E27FC236}">
                <a16:creationId xmlns:a16="http://schemas.microsoft.com/office/drawing/2014/main" id="{B89F3607-184F-F808-762D-DA0A10B49A1F}"/>
              </a:ext>
            </a:extLst>
          </p:cNvPr>
          <p:cNvPicPr>
            <a:picLocks noChangeAspect="1"/>
          </p:cNvPicPr>
          <p:nvPr/>
        </p:nvPicPr>
        <p:blipFill rotWithShape="1">
          <a:blip r:embed="rId3"/>
          <a:srcRect l="3783" t="7688" r="10270" b="13513"/>
          <a:stretch/>
        </p:blipFill>
        <p:spPr>
          <a:xfrm>
            <a:off x="1614419" y="1220090"/>
            <a:ext cx="9134736" cy="4710997"/>
          </a:xfrm>
          <a:prstGeom prst="rect">
            <a:avLst/>
          </a:prstGeom>
        </p:spPr>
      </p:pic>
      <p:pic>
        <p:nvPicPr>
          <p:cNvPr id="3" name="图片 2">
            <a:extLst>
              <a:ext uri="{FF2B5EF4-FFF2-40B4-BE49-F238E27FC236}">
                <a16:creationId xmlns:a16="http://schemas.microsoft.com/office/drawing/2014/main" id="{23960237-6FE5-8925-B61E-E784B8B4B8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29219" y="1270855"/>
            <a:ext cx="4687592" cy="4609465"/>
          </a:xfrm>
          <a:prstGeom prst="rect">
            <a:avLst/>
          </a:prstGeom>
        </p:spPr>
      </p:pic>
    </p:spTree>
    <p:extLst>
      <p:ext uri="{BB962C8B-B14F-4D97-AF65-F5344CB8AC3E}">
        <p14:creationId xmlns:p14="http://schemas.microsoft.com/office/powerpoint/2010/main" val="2504361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8" descr="PPT内页副本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961" y="289047"/>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8" name="Rectangle 10"/>
          <p:cNvSpPr>
            <a:spLocks noGrp="1" noChangeArrowheads="1"/>
          </p:cNvSpPr>
          <p:nvPr>
            <p:ph type="body" idx="1"/>
          </p:nvPr>
        </p:nvSpPr>
        <p:spPr>
          <a:xfrm>
            <a:off x="1567961" y="1503485"/>
            <a:ext cx="9144000" cy="2069234"/>
          </a:xfrm>
        </p:spPr>
        <p:txBody>
          <a:bodyPr>
            <a:normAutofit/>
          </a:bodyPr>
          <a:lstStyle/>
          <a:p>
            <a:pPr eaLnBrk="1" hangingPunct="1"/>
            <a:r>
              <a:rPr lang="zh-CN" altLang="en-US" dirty="0">
                <a:latin typeface="Times New Roman" panose="02020603050405020304" pitchFamily="18" charset="0"/>
                <a:cs typeface="Times New Roman" panose="02020603050405020304" pitchFamily="18" charset="0"/>
              </a:rPr>
              <a:t>我国古代便有了微积分思想</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割圆术</a:t>
            </a:r>
            <a:endParaRPr lang="en-US" altLang="zh-CN" dirty="0">
              <a:latin typeface="Times New Roman" panose="02020603050405020304" pitchFamily="18" charset="0"/>
              <a:cs typeface="Times New Roman" panose="02020603050405020304" pitchFamily="18" charset="0"/>
            </a:endParaRPr>
          </a:p>
          <a:p>
            <a:pPr eaLnBrk="1" hangingPunct="1"/>
            <a:r>
              <a:rPr lang="en-US" altLang="zh-CN" dirty="0">
                <a:latin typeface="Times New Roman" panose="02020603050405020304" pitchFamily="18" charset="0"/>
                <a:cs typeface="Times New Roman" panose="02020603050405020304" pitchFamily="18" charset="0"/>
              </a:rPr>
              <a:t>Newton</a:t>
            </a:r>
            <a:r>
              <a:rPr lang="zh-CN" altLang="en-US" dirty="0">
                <a:latin typeface="Times New Roman" panose="02020603050405020304" pitchFamily="18" charset="0"/>
                <a:cs typeface="Times New Roman" panose="02020603050405020304" pitchFamily="18" charset="0"/>
              </a:rPr>
              <a:t>时代，开始使用微积分处理问题</a:t>
            </a:r>
            <a:endParaRPr lang="en-US" altLang="zh-CN" dirty="0">
              <a:latin typeface="Times New Roman" panose="02020603050405020304" pitchFamily="18" charset="0"/>
              <a:cs typeface="Times New Roman" panose="02020603050405020304" pitchFamily="18" charset="0"/>
            </a:endParaRPr>
          </a:p>
          <a:p>
            <a:pPr eaLnBrk="1" hangingPunct="1"/>
            <a:r>
              <a:rPr lang="zh-CN" altLang="en-US" dirty="0">
                <a:latin typeface="Times New Roman" panose="02020603050405020304" pitchFamily="18" charset="0"/>
                <a:cs typeface="Times New Roman" panose="02020603050405020304" pitchFamily="18" charset="0"/>
              </a:rPr>
              <a:t>面对诸多数学家对微积分理论的怀疑，</a:t>
            </a:r>
            <a:r>
              <a:rPr lang="en-US" altLang="zh-CN" dirty="0">
                <a:latin typeface="Times New Roman" panose="02020603050405020304" pitchFamily="18" charset="0"/>
                <a:cs typeface="Times New Roman" panose="02020603050405020304" pitchFamily="18" charset="0"/>
              </a:rPr>
              <a:t>Cauchy</a:t>
            </a:r>
            <a:r>
              <a:rPr lang="zh-CN" altLang="en-US"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Weierstrass</a:t>
            </a:r>
            <a:r>
              <a:rPr lang="zh-CN" altLang="en-US" dirty="0">
                <a:latin typeface="Times New Roman" panose="02020603050405020304" pitchFamily="18" charset="0"/>
                <a:cs typeface="Times New Roman" panose="02020603050405020304" pitchFamily="18" charset="0"/>
              </a:rPr>
              <a:t>等完善了微积分的理论基础</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ea typeface="华文行楷" panose="02010800040101010101" pitchFamily="2" charset="-122"/>
                <a:cs typeface="Times New Roman" panose="02020603050405020304" pitchFamily="18" charset="0"/>
              </a:rPr>
              <a:t>极限理论</a:t>
            </a:r>
            <a:endParaRPr lang="zh-CN" altLang="zh-CN" dirty="0">
              <a:latin typeface="Times New Roman" panose="02020603050405020304" pitchFamily="18" charset="0"/>
              <a:ea typeface="华文行楷" panose="02010800040101010101" pitchFamily="2" charset="-122"/>
              <a:cs typeface="Times New Roman" panose="02020603050405020304" pitchFamily="18" charset="0"/>
            </a:endParaRPr>
          </a:p>
        </p:txBody>
      </p:sp>
      <p:sp>
        <p:nvSpPr>
          <p:cNvPr id="3076" name="Rectangle 11"/>
          <p:cNvSpPr>
            <a:spLocks noGrp="1" noChangeArrowheads="1"/>
          </p:cNvSpPr>
          <p:nvPr>
            <p:ph type="title"/>
          </p:nvPr>
        </p:nvSpPr>
        <p:spPr>
          <a:xfrm>
            <a:off x="1858108" y="498170"/>
            <a:ext cx="5029200" cy="563562"/>
          </a:xfrm>
        </p:spPr>
        <p:txBody>
          <a:bodyPr>
            <a:normAutofit fontScale="90000"/>
          </a:bodyPr>
          <a:lstStyle/>
          <a:p>
            <a:pPr eaLnBrk="1" hangingPunct="1"/>
            <a:r>
              <a:rPr lang="zh-CN" altLang="en-US" sz="4000" baseline="0" dirty="0">
                <a:solidFill>
                  <a:srgbClr val="FFFF00"/>
                </a:solidFill>
                <a:latin typeface="黑体" panose="02010609060101010101" pitchFamily="49" charset="-122"/>
                <a:ea typeface="黑体" panose="02010609060101010101" pitchFamily="49" charset="-122"/>
              </a:rPr>
              <a:t>数学分析的产生</a:t>
            </a:r>
            <a:endParaRPr lang="zh-CN" altLang="zh-CN" sz="4000" baseline="0" dirty="0">
              <a:solidFill>
                <a:srgbClr val="FFFF00"/>
              </a:solidFill>
              <a:latin typeface="黑体" panose="02010609060101010101" pitchFamily="49" charset="-122"/>
              <a:ea typeface="黑体" panose="02010609060101010101" pitchFamily="49" charset="-122"/>
            </a:endParaRPr>
          </a:p>
        </p:txBody>
      </p:sp>
      <p:pic>
        <p:nvPicPr>
          <p:cNvPr id="2" name="图片 1">
            <a:extLst>
              <a:ext uri="{FF2B5EF4-FFF2-40B4-BE49-F238E27FC236}">
                <a16:creationId xmlns:a16="http://schemas.microsoft.com/office/drawing/2014/main" id="{BE94D465-42CF-8FEE-290B-700E5827BE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10510" y="3542567"/>
            <a:ext cx="1985963" cy="264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1">
            <a:extLst>
              <a:ext uri="{FF2B5EF4-FFF2-40B4-BE49-F238E27FC236}">
                <a16:creationId xmlns:a16="http://schemas.microsoft.com/office/drawing/2014/main" id="{E8CD20C8-0F9C-2057-740F-6C3E08A76D1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207398" y="4103225"/>
            <a:ext cx="571500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11491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8" descr="PPT内页副本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961" y="277473"/>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8" name="Rectangle 10"/>
          <p:cNvSpPr>
            <a:spLocks noGrp="1" noChangeArrowheads="1"/>
          </p:cNvSpPr>
          <p:nvPr>
            <p:ph type="body" idx="1"/>
          </p:nvPr>
        </p:nvSpPr>
        <p:spPr>
          <a:xfrm>
            <a:off x="1567961" y="1503485"/>
            <a:ext cx="9144000" cy="3188120"/>
          </a:xfrm>
        </p:spPr>
        <p:txBody>
          <a:bodyPr>
            <a:normAutofit/>
          </a:bodyPr>
          <a:lstStyle/>
          <a:p>
            <a:pPr eaLnBrk="1" hangingPunct="1">
              <a:buSzPct val="50000"/>
              <a:buFont typeface="Wingdings" panose="05000000000000000000" pitchFamily="2" charset="2"/>
              <a:buChar char="l"/>
              <a:defRPr/>
            </a:pPr>
            <a:r>
              <a:rPr lang="en-US" altLang="zh-CN" dirty="0">
                <a:latin typeface="+mj-lt"/>
              </a:rPr>
              <a:t>Cauchy</a:t>
            </a:r>
            <a:r>
              <a:rPr lang="zh-CN" altLang="en-US" dirty="0">
                <a:latin typeface="+mj-lt"/>
              </a:rPr>
              <a:t>曾著有</a:t>
            </a:r>
            <a:r>
              <a:rPr lang="en-US" altLang="zh-CN" dirty="0">
                <a:latin typeface="+mj-lt"/>
              </a:rPr>
              <a:t>《</a:t>
            </a:r>
            <a:r>
              <a:rPr lang="zh-CN" altLang="en-US" dirty="0"/>
              <a:t>无穷小</a:t>
            </a:r>
            <a:r>
              <a:rPr lang="zh-CN" altLang="en-US" dirty="0">
                <a:latin typeface="+mj-lt"/>
              </a:rPr>
              <a:t>分析</a:t>
            </a:r>
            <a:r>
              <a:rPr lang="en-US" altLang="zh-CN" dirty="0">
                <a:latin typeface="+mj-lt"/>
              </a:rPr>
              <a:t>》</a:t>
            </a:r>
          </a:p>
          <a:p>
            <a:pPr eaLnBrk="1" hangingPunct="1">
              <a:buSzPct val="50000"/>
              <a:buFont typeface="Wingdings" panose="05000000000000000000" pitchFamily="2" charset="2"/>
              <a:buChar char="l"/>
              <a:defRPr/>
            </a:pPr>
            <a:r>
              <a:rPr lang="zh-CN" altLang="en-US" dirty="0">
                <a:latin typeface="+mj-lt"/>
              </a:rPr>
              <a:t>系统阐释了极限的概念</a:t>
            </a:r>
            <a:endParaRPr lang="en-US" altLang="zh-CN" dirty="0">
              <a:latin typeface="+mj-lt"/>
            </a:endParaRPr>
          </a:p>
          <a:p>
            <a:pPr eaLnBrk="1" hangingPunct="1">
              <a:buSzPct val="50000"/>
              <a:buFont typeface="Wingdings" panose="05000000000000000000" pitchFamily="2" charset="2"/>
              <a:buChar char="l"/>
              <a:defRPr/>
            </a:pPr>
            <a:r>
              <a:rPr lang="zh-CN" altLang="en-US" dirty="0">
                <a:latin typeface="+mj-lt"/>
              </a:rPr>
              <a:t>无穷小不再是“</a:t>
            </a:r>
            <a:r>
              <a:rPr lang="zh-CN" altLang="en-US" dirty="0">
                <a:latin typeface="华文行楷" panose="02010800040101010101" pitchFamily="2" charset="-122"/>
                <a:ea typeface="华文行楷" panose="02010800040101010101" pitchFamily="2" charset="-122"/>
              </a:rPr>
              <a:t>可有可无</a:t>
            </a:r>
            <a:r>
              <a:rPr lang="zh-CN" altLang="en-US" dirty="0">
                <a:latin typeface="+mj-lt"/>
              </a:rPr>
              <a:t>”的幽灵</a:t>
            </a:r>
            <a:endParaRPr lang="en-US" altLang="zh-CN" dirty="0">
              <a:latin typeface="+mj-lt"/>
            </a:endParaRPr>
          </a:p>
          <a:p>
            <a:pPr eaLnBrk="1" hangingPunct="1">
              <a:buSzPct val="50000"/>
              <a:buFont typeface="Wingdings" panose="05000000000000000000" pitchFamily="2" charset="2"/>
              <a:buChar char="l"/>
              <a:defRPr/>
            </a:pPr>
            <a:r>
              <a:rPr lang="zh-CN" altLang="en-US" dirty="0">
                <a:latin typeface="华文楷体" panose="02010600040101010101" pitchFamily="2" charset="-122"/>
                <a:ea typeface="华文楷体" panose="02010600040101010101" pitchFamily="2" charset="-122"/>
              </a:rPr>
              <a:t>分析是极限的艺术</a:t>
            </a:r>
            <a:endParaRPr lang="en-US" altLang="zh-CN" dirty="0">
              <a:latin typeface="华文楷体" panose="02010600040101010101" pitchFamily="2" charset="-122"/>
              <a:ea typeface="华文楷体" panose="02010600040101010101" pitchFamily="2" charset="-122"/>
            </a:endParaRPr>
          </a:p>
          <a:p>
            <a:pPr eaLnBrk="1" hangingPunct="1">
              <a:buSzPct val="50000"/>
              <a:buFont typeface="Wingdings" panose="05000000000000000000" pitchFamily="2" charset="2"/>
              <a:buChar char="l"/>
              <a:defRPr/>
            </a:pPr>
            <a:r>
              <a:rPr lang="zh-CN" altLang="en-US" dirty="0">
                <a:latin typeface="华文行楷" panose="02010800040101010101" pitchFamily="2" charset="-122"/>
                <a:ea typeface="华文行楷" panose="02010800040101010101" pitchFamily="2" charset="-122"/>
              </a:rPr>
              <a:t>极限的根本在于无穷小的分析</a:t>
            </a:r>
            <a:endParaRPr lang="en-US" altLang="zh-CN" dirty="0">
              <a:latin typeface="华文行楷" panose="02010800040101010101" pitchFamily="2" charset="-122"/>
              <a:ea typeface="华文行楷" panose="02010800040101010101" pitchFamily="2" charset="-122"/>
            </a:endParaRPr>
          </a:p>
          <a:p>
            <a:pPr eaLnBrk="1" hangingPunct="1">
              <a:buSzPct val="50000"/>
              <a:buFont typeface="Wingdings" panose="05000000000000000000" pitchFamily="2" charset="2"/>
              <a:buChar char="l"/>
              <a:defRPr/>
            </a:pPr>
            <a:r>
              <a:rPr lang="zh-CN" altLang="en-US" dirty="0">
                <a:latin typeface="+mn-ea"/>
              </a:rPr>
              <a:t>极限理论离不开实数体系</a:t>
            </a:r>
            <a:endParaRPr lang="en-US" altLang="zh-CN" dirty="0">
              <a:latin typeface="+mn-ea"/>
            </a:endParaRPr>
          </a:p>
        </p:txBody>
      </p:sp>
      <p:sp>
        <p:nvSpPr>
          <p:cNvPr id="3076" name="Rectangle 11"/>
          <p:cNvSpPr>
            <a:spLocks noGrp="1" noChangeArrowheads="1"/>
          </p:cNvSpPr>
          <p:nvPr>
            <p:ph type="title"/>
          </p:nvPr>
        </p:nvSpPr>
        <p:spPr>
          <a:xfrm>
            <a:off x="1858108" y="498170"/>
            <a:ext cx="5029200" cy="563562"/>
          </a:xfrm>
        </p:spPr>
        <p:txBody>
          <a:bodyPr>
            <a:normAutofit fontScale="90000"/>
          </a:bodyPr>
          <a:lstStyle/>
          <a:p>
            <a:pPr algn="l" eaLnBrk="1" hangingPunct="1"/>
            <a:r>
              <a:rPr lang="zh-CN" altLang="en-US" sz="4000" baseline="0" dirty="0">
                <a:solidFill>
                  <a:srgbClr val="FFFF00"/>
                </a:solidFill>
                <a:latin typeface="黑体" panose="02010609060101010101" pitchFamily="49" charset="-122"/>
                <a:ea typeface="黑体" panose="02010609060101010101" pitchFamily="49" charset="-122"/>
              </a:rPr>
              <a:t>数学分析的产生</a:t>
            </a:r>
            <a:endParaRPr lang="zh-CN" altLang="zh-CN" sz="4000" dirty="0">
              <a:latin typeface="黑体" panose="02010609060101010101" pitchFamily="49" charset="-122"/>
              <a:ea typeface="黑体" panose="02010609060101010101" pitchFamily="49" charset="-122"/>
            </a:endParaRPr>
          </a:p>
        </p:txBody>
      </p:sp>
      <p:pic>
        <p:nvPicPr>
          <p:cNvPr id="2" name="图片 1">
            <a:extLst>
              <a:ext uri="{FF2B5EF4-FFF2-40B4-BE49-F238E27FC236}">
                <a16:creationId xmlns:a16="http://schemas.microsoft.com/office/drawing/2014/main" id="{7BCF0BF4-0169-EFE4-6139-E2FC2D8333C0}"/>
              </a:ext>
            </a:extLst>
          </p:cNvPr>
          <p:cNvPicPr>
            <a:picLocks noChangeAspect="1"/>
          </p:cNvPicPr>
          <p:nvPr/>
        </p:nvPicPr>
        <p:blipFill rotWithShape="1">
          <a:blip r:embed="rId3">
            <a:extLst>
              <a:ext uri="{28A0092B-C50C-407E-A947-70E740481C1C}">
                <a14:useLocalDpi xmlns:a14="http://schemas.microsoft.com/office/drawing/2010/main" val="0"/>
              </a:ext>
            </a:extLst>
          </a:blip>
          <a:srcRect l="14000" r="10000" b="10182"/>
          <a:stretch/>
        </p:blipFill>
        <p:spPr bwMode="auto">
          <a:xfrm>
            <a:off x="7163765" y="2033920"/>
            <a:ext cx="28956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4569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8" descr="PPT内页副本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961" y="289047"/>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8" name="Rectangle 10"/>
          <p:cNvSpPr>
            <a:spLocks noGrp="1" noChangeArrowheads="1"/>
          </p:cNvSpPr>
          <p:nvPr>
            <p:ph type="body" idx="1"/>
          </p:nvPr>
        </p:nvSpPr>
        <p:spPr>
          <a:xfrm>
            <a:off x="1567961" y="1503485"/>
            <a:ext cx="9144000" cy="3126388"/>
          </a:xfrm>
        </p:spPr>
        <p:txBody>
          <a:bodyPr>
            <a:normAutofit/>
          </a:bodyPr>
          <a:lstStyle/>
          <a:p>
            <a:pPr eaLnBrk="1" hangingPunct="1">
              <a:defRPr/>
            </a:pPr>
            <a:r>
              <a:rPr lang="zh-CN" altLang="en-US" dirty="0">
                <a:latin typeface="+mj-lt"/>
                <a:ea typeface="华文行楷" panose="02010800040101010101" pitchFamily="2" charset="-122"/>
              </a:rPr>
              <a:t>实数理论</a:t>
            </a:r>
            <a:endParaRPr lang="en-US" altLang="zh-CN" dirty="0">
              <a:latin typeface="+mj-lt"/>
              <a:ea typeface="华文行楷" panose="02010800040101010101" pitchFamily="2" charset="-122"/>
            </a:endParaRPr>
          </a:p>
          <a:p>
            <a:pPr eaLnBrk="1" hangingPunct="1">
              <a:defRPr/>
            </a:pPr>
            <a:r>
              <a:rPr lang="zh-CN" altLang="en-US" dirty="0">
                <a:latin typeface="+mj-lt"/>
                <a:ea typeface="华文行楷" panose="02010800040101010101" pitchFamily="2" charset="-122"/>
              </a:rPr>
              <a:t>极限理论</a:t>
            </a:r>
            <a:endParaRPr lang="en-US" altLang="zh-CN" dirty="0">
              <a:latin typeface="+mj-lt"/>
              <a:ea typeface="华文行楷" panose="02010800040101010101" pitchFamily="2" charset="-122"/>
            </a:endParaRPr>
          </a:p>
          <a:p>
            <a:pPr eaLnBrk="1" hangingPunct="1">
              <a:defRPr/>
            </a:pPr>
            <a:r>
              <a:rPr lang="zh-CN" altLang="en-US" dirty="0">
                <a:latin typeface="+mj-lt"/>
                <a:ea typeface="华文行楷" panose="02010800040101010101" pitchFamily="2" charset="-122"/>
              </a:rPr>
              <a:t>微分理论</a:t>
            </a:r>
            <a:endParaRPr lang="en-US" altLang="zh-CN" dirty="0">
              <a:latin typeface="+mj-lt"/>
              <a:ea typeface="华文行楷" panose="02010800040101010101" pitchFamily="2" charset="-122"/>
            </a:endParaRPr>
          </a:p>
          <a:p>
            <a:pPr eaLnBrk="1" hangingPunct="1">
              <a:defRPr/>
            </a:pPr>
            <a:r>
              <a:rPr lang="zh-CN" altLang="en-US" dirty="0">
                <a:latin typeface="+mj-lt"/>
                <a:ea typeface="华文行楷" panose="02010800040101010101" pitchFamily="2" charset="-122"/>
              </a:rPr>
              <a:t>积分理论</a:t>
            </a:r>
            <a:endParaRPr lang="en-US" altLang="zh-CN" dirty="0">
              <a:latin typeface="+mj-lt"/>
              <a:ea typeface="华文行楷" panose="02010800040101010101" pitchFamily="2" charset="-122"/>
            </a:endParaRPr>
          </a:p>
          <a:p>
            <a:pPr eaLnBrk="1" hangingPunct="1">
              <a:defRPr/>
            </a:pPr>
            <a:r>
              <a:rPr lang="zh-CN" altLang="en-US" dirty="0">
                <a:latin typeface="+mj-lt"/>
                <a:ea typeface="华文行楷" panose="02010800040101010101" pitchFamily="2" charset="-122"/>
              </a:rPr>
              <a:t>级数理论</a:t>
            </a:r>
            <a:endParaRPr lang="en-US" altLang="zh-CN" dirty="0">
              <a:latin typeface="+mj-lt"/>
              <a:ea typeface="华文行楷" panose="02010800040101010101" pitchFamily="2" charset="-122"/>
            </a:endParaRPr>
          </a:p>
          <a:p>
            <a:pPr eaLnBrk="1" hangingPunct="1">
              <a:defRPr/>
            </a:pPr>
            <a:r>
              <a:rPr lang="zh-CN" altLang="en-US" dirty="0">
                <a:latin typeface="+mj-lt"/>
                <a:ea typeface="华文行楷" panose="02010800040101010101" pitchFamily="2" charset="-122"/>
              </a:rPr>
              <a:t>各种极限交换</a:t>
            </a:r>
            <a:endParaRPr lang="en-US" altLang="zh-CN" dirty="0">
              <a:latin typeface="+mj-lt"/>
              <a:ea typeface="华文行楷" panose="02010800040101010101" pitchFamily="2" charset="-122"/>
            </a:endParaRPr>
          </a:p>
        </p:txBody>
      </p:sp>
      <p:sp>
        <p:nvSpPr>
          <p:cNvPr id="3076" name="Rectangle 11"/>
          <p:cNvSpPr>
            <a:spLocks noGrp="1" noChangeArrowheads="1"/>
          </p:cNvSpPr>
          <p:nvPr>
            <p:ph type="title"/>
          </p:nvPr>
        </p:nvSpPr>
        <p:spPr>
          <a:xfrm>
            <a:off x="1858108" y="498170"/>
            <a:ext cx="5029200" cy="563562"/>
          </a:xfrm>
        </p:spPr>
        <p:txBody>
          <a:bodyPr>
            <a:normAutofit fontScale="90000"/>
          </a:bodyPr>
          <a:lstStyle/>
          <a:p>
            <a:pPr eaLnBrk="1" hangingPunct="1"/>
            <a:r>
              <a:rPr lang="zh-CN" altLang="en-US" sz="4000" baseline="0" dirty="0">
                <a:solidFill>
                  <a:srgbClr val="FFFF00"/>
                </a:solidFill>
                <a:latin typeface="黑体" panose="02010609060101010101" pitchFamily="49" charset="-122"/>
                <a:ea typeface="黑体" panose="02010609060101010101" pitchFamily="49" charset="-122"/>
              </a:rPr>
              <a:t>我们学的数学分析</a:t>
            </a:r>
            <a:endParaRPr lang="zh-CN" altLang="zh-CN" sz="4000" baseline="0" dirty="0">
              <a:solidFill>
                <a:srgbClr val="FFFF00"/>
              </a:solidFill>
              <a:latin typeface="黑体" panose="02010609060101010101" pitchFamily="49" charset="-122"/>
              <a:ea typeface="黑体" panose="02010609060101010101" pitchFamily="49" charset="-122"/>
            </a:endParaRPr>
          </a:p>
        </p:txBody>
      </p:sp>
      <p:pic>
        <p:nvPicPr>
          <p:cNvPr id="2" name="图片 1">
            <a:extLst>
              <a:ext uri="{FF2B5EF4-FFF2-40B4-BE49-F238E27FC236}">
                <a16:creationId xmlns:a16="http://schemas.microsoft.com/office/drawing/2014/main" id="{904C2881-42DD-D18D-C858-745C6D63E8F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931061" y="1470467"/>
            <a:ext cx="2060575"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D26AC951-5679-0FF1-DD06-FABD3C5B949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26611" y="1470467"/>
            <a:ext cx="1893888"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EEC7C56C-3BC6-8BFA-0647-57A5C509BF3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8405974" y="4067617"/>
            <a:ext cx="2081212"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8F819007-B5A5-999E-C241-1B0EA6F94FD2}"/>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5902486" y="4067617"/>
            <a:ext cx="2119313" cy="282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1446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8" descr="PPT内页副本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961" y="302869"/>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Rectangle 11"/>
          <p:cNvSpPr>
            <a:spLocks noGrp="1" noChangeArrowheads="1"/>
          </p:cNvSpPr>
          <p:nvPr>
            <p:ph type="title"/>
          </p:nvPr>
        </p:nvSpPr>
        <p:spPr>
          <a:xfrm>
            <a:off x="1858108" y="498170"/>
            <a:ext cx="5029200" cy="563562"/>
          </a:xfrm>
        </p:spPr>
        <p:txBody>
          <a:bodyPr>
            <a:normAutofit fontScale="90000"/>
          </a:bodyPr>
          <a:lstStyle/>
          <a:p>
            <a:pPr eaLnBrk="1" hangingPunct="1"/>
            <a:r>
              <a:rPr lang="zh-CN" altLang="en-US" sz="4000" baseline="0" dirty="0">
                <a:solidFill>
                  <a:srgbClr val="FFFF00"/>
                </a:solidFill>
                <a:latin typeface="黑体" panose="02010609060101010101" pitchFamily="49" charset="-122"/>
                <a:ea typeface="黑体" panose="02010609060101010101" pitchFamily="49" charset="-122"/>
              </a:rPr>
              <a:t>参考书的问题</a:t>
            </a:r>
            <a:endParaRPr lang="zh-CN" altLang="zh-CN" sz="4000" baseline="0" dirty="0">
              <a:solidFill>
                <a:srgbClr val="FFFF00"/>
              </a:solidFill>
              <a:latin typeface="黑体" panose="02010609060101010101" pitchFamily="49" charset="-122"/>
              <a:ea typeface="黑体" panose="02010609060101010101" pitchFamily="49" charset="-122"/>
            </a:endParaRPr>
          </a:p>
        </p:txBody>
      </p:sp>
      <p:sp>
        <p:nvSpPr>
          <p:cNvPr id="2" name="Rectangle 10">
            <a:extLst>
              <a:ext uri="{FF2B5EF4-FFF2-40B4-BE49-F238E27FC236}">
                <a16:creationId xmlns:a16="http://schemas.microsoft.com/office/drawing/2014/main" id="{3934FCF6-B6C6-8A23-A8D9-D67B44B147B0}"/>
              </a:ext>
            </a:extLst>
          </p:cNvPr>
          <p:cNvSpPr txBox="1">
            <a:spLocks noChangeArrowheads="1"/>
          </p:cNvSpPr>
          <p:nvPr/>
        </p:nvSpPr>
        <p:spPr>
          <a:xfrm>
            <a:off x="1567961" y="1540326"/>
            <a:ext cx="8229600" cy="4525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dirty="0">
                <a:latin typeface="+mn-ea"/>
              </a:rPr>
              <a:t>根据自身情况而定</a:t>
            </a:r>
            <a:endParaRPr lang="en-US" altLang="zh-CN" dirty="0">
              <a:latin typeface="+mn-ea"/>
            </a:endParaRPr>
          </a:p>
          <a:p>
            <a:pPr>
              <a:defRPr/>
            </a:pPr>
            <a:r>
              <a:rPr lang="zh-CN" altLang="en-US" dirty="0">
                <a:latin typeface="+mn-ea"/>
              </a:rPr>
              <a:t>常见习题集特点？</a:t>
            </a:r>
            <a:endParaRPr lang="en-US" altLang="zh-CN" dirty="0">
              <a:latin typeface="+mn-ea"/>
            </a:endParaRPr>
          </a:p>
          <a:p>
            <a:pPr>
              <a:defRPr/>
            </a:pPr>
            <a:r>
              <a:rPr lang="zh-CN" altLang="en-US" dirty="0">
                <a:latin typeface="+mn-ea"/>
              </a:rPr>
              <a:t>不好意思吓到大家了</a:t>
            </a:r>
            <a:endParaRPr lang="en-US" altLang="zh-CN" dirty="0">
              <a:latin typeface="+mn-ea"/>
            </a:endParaRPr>
          </a:p>
          <a:p>
            <a:pPr marL="0" indent="0">
              <a:buFont typeface="Arial" panose="020B0604020202020204" pitchFamily="34" charset="0"/>
              <a:buNone/>
              <a:defRPr/>
            </a:pPr>
            <a:endParaRPr lang="en-US" altLang="zh-CN" dirty="0">
              <a:latin typeface="+mn-ea"/>
            </a:endParaRPr>
          </a:p>
          <a:p>
            <a:pPr>
              <a:defRPr/>
            </a:pPr>
            <a:r>
              <a:rPr lang="zh-CN" altLang="en-US" dirty="0">
                <a:latin typeface="+mn-ea"/>
              </a:rPr>
              <a:t>从基础抓起，该会的一定弄懂</a:t>
            </a:r>
            <a:endParaRPr lang="en-US" altLang="zh-CN" dirty="0">
              <a:latin typeface="+mn-ea"/>
            </a:endParaRPr>
          </a:p>
          <a:p>
            <a:pPr>
              <a:defRPr/>
            </a:pPr>
            <a:r>
              <a:rPr lang="zh-CN" altLang="en-US" dirty="0">
                <a:latin typeface="+mn-ea"/>
              </a:rPr>
              <a:t>难题有好处，但不要钻牛角尖</a:t>
            </a:r>
            <a:endParaRPr lang="en-US" altLang="zh-CN" dirty="0">
              <a:latin typeface="+mn-ea"/>
            </a:endParaRPr>
          </a:p>
          <a:p>
            <a:pPr>
              <a:defRPr/>
            </a:pPr>
            <a:r>
              <a:rPr lang="zh-CN" altLang="en-US" dirty="0">
                <a:latin typeface="+mn-ea"/>
              </a:rPr>
              <a:t>为一个问题思考很长时间是会有收获的</a:t>
            </a:r>
            <a:endParaRPr lang="en-US" altLang="zh-CN" dirty="0">
              <a:latin typeface="+mn-ea"/>
            </a:endParaRPr>
          </a:p>
          <a:p>
            <a:pPr>
              <a:defRPr/>
            </a:pPr>
            <a:r>
              <a:rPr lang="zh-CN" altLang="en-US" dirty="0">
                <a:latin typeface="+mn-ea"/>
              </a:rPr>
              <a:t>少空想，多请教；少玩手机多睡觉</a:t>
            </a:r>
            <a:r>
              <a:rPr lang="en-US" altLang="zh-CN" dirty="0">
                <a:latin typeface="+mn-ea"/>
              </a:rPr>
              <a:t>!</a:t>
            </a:r>
          </a:p>
        </p:txBody>
      </p:sp>
      <p:pic>
        <p:nvPicPr>
          <p:cNvPr id="4" name="图片 3">
            <a:extLst>
              <a:ext uri="{FF2B5EF4-FFF2-40B4-BE49-F238E27FC236}">
                <a16:creationId xmlns:a16="http://schemas.microsoft.com/office/drawing/2014/main" id="{5BFC0034-FBA0-4C5F-FE9C-30BCA0BEEC9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36917" y="302869"/>
            <a:ext cx="4479925" cy="700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4">
            <a:extLst>
              <a:ext uri="{FF2B5EF4-FFF2-40B4-BE49-F238E27FC236}">
                <a16:creationId xmlns:a16="http://schemas.microsoft.com/office/drawing/2014/main" id="{384D8798-85DE-E90C-B318-75E0859894E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58108" y="2560899"/>
            <a:ext cx="3960311"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71622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4"/>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 calcmode="lin" valueType="num">
                                      <p:cBhvr additive="base">
                                        <p:cTn id="25"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anim calcmode="lin" valueType="num">
                                      <p:cBhvr additive="base">
                                        <p:cTn id="29"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anim calcmode="lin" valueType="num">
                                      <p:cBhvr additive="base">
                                        <p:cTn id="3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2">
                                            <p:txEl>
                                              <p:pRg st="7" end="7"/>
                                            </p:txEl>
                                          </p:spTgt>
                                        </p:tgtEl>
                                        <p:attrNameLst>
                                          <p:attrName>style.visibility</p:attrName>
                                        </p:attrNameLst>
                                      </p:cBhvr>
                                      <p:to>
                                        <p:strVal val="visible"/>
                                      </p:to>
                                    </p:set>
                                    <p:anim calcmode="lin" valueType="num">
                                      <p:cBhvr additive="base">
                                        <p:cTn id="37"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8" descr="PPT内页副本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961" y="285369"/>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Rectangle 11"/>
          <p:cNvSpPr>
            <a:spLocks noGrp="1" noChangeArrowheads="1"/>
          </p:cNvSpPr>
          <p:nvPr>
            <p:ph type="title"/>
          </p:nvPr>
        </p:nvSpPr>
        <p:spPr>
          <a:xfrm>
            <a:off x="1858108" y="498170"/>
            <a:ext cx="5029200" cy="563562"/>
          </a:xfrm>
        </p:spPr>
        <p:txBody>
          <a:bodyPr>
            <a:normAutofit fontScale="90000"/>
          </a:bodyPr>
          <a:lstStyle/>
          <a:p>
            <a:pPr eaLnBrk="1" hangingPunct="1"/>
            <a:r>
              <a:rPr lang="zh-CN" altLang="en-US" sz="4000" dirty="0">
                <a:solidFill>
                  <a:srgbClr val="FFFF00"/>
                </a:solidFill>
                <a:latin typeface="黑体" panose="02010609060101010101" pitchFamily="49" charset="-122"/>
                <a:ea typeface="黑体" panose="02010609060101010101" pitchFamily="49" charset="-122"/>
              </a:rPr>
              <a:t>答疑</a:t>
            </a:r>
            <a:endParaRPr lang="zh-CN" altLang="zh-CN" sz="4000" baseline="0" dirty="0">
              <a:solidFill>
                <a:srgbClr val="FFFF00"/>
              </a:solidFill>
              <a:latin typeface="黑体" panose="02010609060101010101" pitchFamily="49" charset="-122"/>
              <a:ea typeface="黑体" panose="02010609060101010101" pitchFamily="49" charset="-122"/>
            </a:endParaRPr>
          </a:p>
        </p:txBody>
      </p:sp>
      <p:sp>
        <p:nvSpPr>
          <p:cNvPr id="2" name="Rectangle 10">
            <a:extLst>
              <a:ext uri="{FF2B5EF4-FFF2-40B4-BE49-F238E27FC236}">
                <a16:creationId xmlns:a16="http://schemas.microsoft.com/office/drawing/2014/main" id="{3934FCF6-B6C6-8A23-A8D9-D67B44B147B0}"/>
              </a:ext>
            </a:extLst>
          </p:cNvPr>
          <p:cNvSpPr txBox="1">
            <a:spLocks noChangeArrowheads="1"/>
          </p:cNvSpPr>
          <p:nvPr/>
        </p:nvSpPr>
        <p:spPr>
          <a:xfrm>
            <a:off x="1567961" y="1540326"/>
            <a:ext cx="9056078" cy="4525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dirty="0">
                <a:latin typeface="+mn-ea"/>
              </a:rPr>
              <a:t>善于交流，勤学好问</a:t>
            </a:r>
            <a:endParaRPr lang="en-US" altLang="zh-CN" dirty="0">
              <a:latin typeface="+mn-ea"/>
            </a:endParaRPr>
          </a:p>
          <a:p>
            <a:pPr>
              <a:defRPr/>
            </a:pPr>
            <a:r>
              <a:rPr lang="zh-CN" altLang="en-US" dirty="0">
                <a:latin typeface="+mn-ea"/>
              </a:rPr>
              <a:t>当遇到问题时：自己思考</a:t>
            </a:r>
            <a:r>
              <a:rPr lang="en-US" altLang="zh-CN" dirty="0">
                <a:latin typeface="+mn-ea"/>
              </a:rPr>
              <a:t>-&gt;</a:t>
            </a:r>
            <a:r>
              <a:rPr lang="zh-CN" altLang="en-US" dirty="0">
                <a:latin typeface="+mn-ea"/>
              </a:rPr>
              <a:t>同学讨论</a:t>
            </a:r>
            <a:r>
              <a:rPr lang="en-US" altLang="zh-CN" dirty="0">
                <a:latin typeface="+mn-ea"/>
              </a:rPr>
              <a:t>-&gt;</a:t>
            </a:r>
            <a:r>
              <a:rPr lang="zh-CN" altLang="en-US" dirty="0">
                <a:latin typeface="+mn-ea"/>
              </a:rPr>
              <a:t>助教</a:t>
            </a:r>
            <a:r>
              <a:rPr lang="en-US" altLang="zh-CN" dirty="0">
                <a:latin typeface="+mn-ea"/>
              </a:rPr>
              <a:t>-&gt;</a:t>
            </a:r>
            <a:r>
              <a:rPr lang="zh-CN" altLang="en-US" dirty="0">
                <a:latin typeface="+mn-ea"/>
              </a:rPr>
              <a:t>老师</a:t>
            </a:r>
            <a:endParaRPr lang="en-US" altLang="zh-CN" dirty="0">
              <a:latin typeface="+mn-ea"/>
            </a:endParaRPr>
          </a:p>
          <a:p>
            <a:pPr>
              <a:defRPr/>
            </a:pPr>
            <a:r>
              <a:rPr lang="zh-CN" altLang="en-US" dirty="0">
                <a:latin typeface="+mn-ea"/>
              </a:rPr>
              <a:t>如果考虑使用</a:t>
            </a:r>
            <a:r>
              <a:rPr lang="en-US" altLang="zh-CN" dirty="0">
                <a:latin typeface="+mn-ea"/>
              </a:rPr>
              <a:t>AI</a:t>
            </a:r>
            <a:r>
              <a:rPr lang="zh-CN" altLang="en-US" dirty="0">
                <a:latin typeface="+mn-ea"/>
              </a:rPr>
              <a:t>：保持甄别能力，杜绝拿来主义</a:t>
            </a:r>
            <a:endParaRPr lang="en-US" altLang="zh-CN" dirty="0">
              <a:latin typeface="+mn-ea"/>
            </a:endParaRPr>
          </a:p>
          <a:p>
            <a:pPr>
              <a:defRPr/>
            </a:pPr>
            <a:r>
              <a:rPr lang="zh-CN" altLang="en-US" dirty="0">
                <a:latin typeface="+mn-ea"/>
              </a:rPr>
              <a:t>集中答疑时间：</a:t>
            </a:r>
            <a:endParaRPr lang="en-US" altLang="zh-CN" dirty="0">
              <a:latin typeface="+mn-ea"/>
            </a:endParaRPr>
          </a:p>
          <a:p>
            <a:pPr marL="0" indent="0">
              <a:buNone/>
              <a:defRPr/>
            </a:pPr>
            <a:r>
              <a:rPr lang="en-US" altLang="zh-CN" dirty="0">
                <a:latin typeface="+mn-ea"/>
              </a:rPr>
              <a:t>    </a:t>
            </a:r>
            <a:r>
              <a:rPr lang="zh-CN" altLang="en-US" dirty="0">
                <a:latin typeface="+mn-ea"/>
              </a:rPr>
              <a:t>上课课前课后</a:t>
            </a:r>
            <a:endParaRPr lang="en-US" altLang="zh-CN" dirty="0">
              <a:latin typeface="+mn-ea"/>
            </a:endParaRPr>
          </a:p>
          <a:p>
            <a:pPr marL="0" indent="0">
              <a:buNone/>
              <a:defRPr/>
            </a:pPr>
            <a:r>
              <a:rPr lang="en-US" altLang="zh-CN" dirty="0">
                <a:latin typeface="+mn-ea"/>
              </a:rPr>
              <a:t>    </a:t>
            </a:r>
            <a:r>
              <a:rPr lang="zh-CN" altLang="en-US" dirty="0">
                <a:latin typeface="+mn-ea"/>
              </a:rPr>
              <a:t>每周日上午</a:t>
            </a:r>
            <a:r>
              <a:rPr lang="en-US" altLang="zh-CN" dirty="0">
                <a:latin typeface="+mn-ea"/>
              </a:rPr>
              <a:t>9:45-11:20</a:t>
            </a:r>
            <a:r>
              <a:rPr lang="zh-CN" altLang="en-US" dirty="0">
                <a:latin typeface="+mn-ea"/>
              </a:rPr>
              <a:t>习题课前后（到</a:t>
            </a:r>
            <a:r>
              <a:rPr lang="en-US" altLang="zh-CN" dirty="0">
                <a:latin typeface="+mn-ea"/>
              </a:rPr>
              <a:t>12:00</a:t>
            </a:r>
            <a:r>
              <a:rPr lang="zh-CN" altLang="en-US" dirty="0">
                <a:latin typeface="+mn-ea"/>
              </a:rPr>
              <a:t>）</a:t>
            </a:r>
            <a:endParaRPr lang="en-US" altLang="zh-CN" dirty="0">
              <a:latin typeface="+mn-ea"/>
            </a:endParaRPr>
          </a:p>
          <a:p>
            <a:pPr marL="0" indent="0">
              <a:buNone/>
              <a:defRPr/>
            </a:pPr>
            <a:r>
              <a:rPr lang="en-US" altLang="zh-CN" dirty="0">
                <a:latin typeface="+mn-ea"/>
              </a:rPr>
              <a:t>    </a:t>
            </a:r>
            <a:r>
              <a:rPr lang="zh-CN" altLang="en-US" dirty="0">
                <a:latin typeface="+mn-ea"/>
              </a:rPr>
              <a:t>不定期</a:t>
            </a:r>
            <a:r>
              <a:rPr lang="en-US" altLang="zh-CN" dirty="0">
                <a:latin typeface="+mn-ea"/>
              </a:rPr>
              <a:t>office hour</a:t>
            </a:r>
          </a:p>
          <a:p>
            <a:pPr marL="0" indent="0">
              <a:buNone/>
              <a:defRPr/>
            </a:pPr>
            <a:r>
              <a:rPr lang="en-US" altLang="zh-CN" dirty="0">
                <a:latin typeface="+mn-ea"/>
              </a:rPr>
              <a:t>    </a:t>
            </a:r>
            <a:r>
              <a:rPr lang="zh-CN" altLang="en-US">
                <a:latin typeface="+mn-ea"/>
              </a:rPr>
              <a:t>如需要单独找我聊，</a:t>
            </a:r>
            <a:r>
              <a:rPr lang="zh-CN" altLang="en-US" dirty="0">
                <a:latin typeface="+mn-ea"/>
              </a:rPr>
              <a:t>请提前主动预约时间</a:t>
            </a:r>
            <a:endParaRPr lang="en-US" altLang="zh-CN" dirty="0">
              <a:latin typeface="+mn-ea"/>
            </a:endParaRPr>
          </a:p>
        </p:txBody>
      </p:sp>
    </p:spTree>
    <p:extLst>
      <p:ext uri="{BB962C8B-B14F-4D97-AF65-F5344CB8AC3E}">
        <p14:creationId xmlns:p14="http://schemas.microsoft.com/office/powerpoint/2010/main" val="1733591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8" descr="PPT内页副本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961" y="289047"/>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8" name="Rectangle 10"/>
          <p:cNvSpPr>
            <a:spLocks noGrp="1" noChangeArrowheads="1"/>
          </p:cNvSpPr>
          <p:nvPr>
            <p:ph type="body" idx="1"/>
          </p:nvPr>
        </p:nvSpPr>
        <p:spPr>
          <a:xfrm>
            <a:off x="1567961" y="1503485"/>
            <a:ext cx="9144000" cy="4682270"/>
          </a:xfrm>
        </p:spPr>
        <p:txBody>
          <a:bodyPr/>
          <a:lstStyle/>
          <a:p>
            <a:pPr eaLnBrk="1" hangingPunct="1">
              <a:defRPr/>
            </a:pPr>
            <a:r>
              <a:rPr lang="zh-CN" altLang="en-US" dirty="0">
                <a:latin typeface="等线" panose="02010600030101010101" pitchFamily="2" charset="-122"/>
                <a:ea typeface="等线" panose="02010600030101010101" pitchFamily="2" charset="-122"/>
              </a:rPr>
              <a:t>平时作业</a:t>
            </a:r>
            <a:r>
              <a:rPr lang="en-US" altLang="zh-CN" dirty="0">
                <a:latin typeface="等线" panose="02010600030101010101" pitchFamily="2" charset="-122"/>
                <a:ea typeface="等线" panose="02010600030101010101" pitchFamily="2" charset="-122"/>
              </a:rPr>
              <a:t>+</a:t>
            </a:r>
            <a:r>
              <a:rPr lang="zh-CN" altLang="en-US" dirty="0">
                <a:latin typeface="等线" panose="02010600030101010101" pitchFamily="2" charset="-122"/>
                <a:ea typeface="等线" panose="02010600030101010101" pitchFamily="2" charset="-122"/>
              </a:rPr>
              <a:t>期中考试</a:t>
            </a:r>
            <a:r>
              <a:rPr lang="en-US" altLang="zh-CN" dirty="0">
                <a:latin typeface="等线" panose="02010600030101010101" pitchFamily="2" charset="-122"/>
                <a:ea typeface="等线" panose="02010600030101010101" pitchFamily="2" charset="-122"/>
              </a:rPr>
              <a:t>+</a:t>
            </a:r>
            <a:r>
              <a:rPr lang="zh-CN" altLang="en-US" dirty="0">
                <a:latin typeface="等线" panose="02010600030101010101" pitchFamily="2" charset="-122"/>
                <a:ea typeface="等线" panose="02010600030101010101" pitchFamily="2" charset="-122"/>
              </a:rPr>
              <a:t>期末考试</a:t>
            </a:r>
            <a:endParaRPr lang="en-US" altLang="zh-CN" dirty="0">
              <a:latin typeface="等线" panose="02010600030101010101" pitchFamily="2" charset="-122"/>
              <a:ea typeface="等线" panose="02010600030101010101" pitchFamily="2" charset="-122"/>
            </a:endParaRPr>
          </a:p>
          <a:p>
            <a:pPr eaLnBrk="1" hangingPunct="1">
              <a:defRPr/>
            </a:pPr>
            <a:r>
              <a:rPr lang="zh-CN" altLang="en-US" dirty="0">
                <a:latin typeface="等线" panose="02010600030101010101" pitchFamily="2" charset="-122"/>
                <a:ea typeface="等线" panose="02010600030101010101" pitchFamily="2" charset="-122"/>
              </a:rPr>
              <a:t>关于重修：考评方式等同于其他同学</a:t>
            </a:r>
            <a:endParaRPr lang="en-US" altLang="zh-CN" dirty="0">
              <a:latin typeface="等线" panose="02010600030101010101" pitchFamily="2" charset="-122"/>
              <a:ea typeface="等线" panose="02010600030101010101" pitchFamily="2" charset="-122"/>
            </a:endParaRPr>
          </a:p>
          <a:p>
            <a:pPr eaLnBrk="1" hangingPunct="1">
              <a:defRPr/>
            </a:pPr>
            <a:endParaRPr lang="en-US" altLang="zh-CN" dirty="0">
              <a:latin typeface="+mj-lt"/>
              <a:ea typeface="华文行楷" panose="02010800040101010101" pitchFamily="2" charset="-122"/>
            </a:endParaRPr>
          </a:p>
          <a:p>
            <a:pPr eaLnBrk="1" hangingPunct="1">
              <a:defRPr/>
            </a:pPr>
            <a:r>
              <a:rPr lang="zh-CN" altLang="en-US" dirty="0">
                <a:latin typeface="+mj-lt"/>
                <a:ea typeface="华文行楷" panose="02010800040101010101" pitchFamily="2" charset="-122"/>
              </a:rPr>
              <a:t>考前三天</a:t>
            </a:r>
            <a:r>
              <a:rPr lang="en-US" altLang="zh-CN" dirty="0">
                <a:latin typeface="+mj-lt"/>
                <a:ea typeface="华文行楷" panose="02010800040101010101" pitchFamily="2" charset="-122"/>
              </a:rPr>
              <a:t>——</a:t>
            </a:r>
            <a:r>
              <a:rPr lang="zh-CN" altLang="en-US" dirty="0">
                <a:latin typeface="等线" panose="02010600030101010101" pitchFamily="2" charset="-122"/>
                <a:ea typeface="等线" panose="02010600030101010101" pitchFamily="2" charset="-122"/>
              </a:rPr>
              <a:t>饮酒乐甚，扣舷而歌之</a:t>
            </a:r>
            <a:endParaRPr lang="en-US" altLang="zh-CN" dirty="0">
              <a:latin typeface="等线" panose="02010600030101010101" pitchFamily="2" charset="-122"/>
              <a:ea typeface="等线" panose="02010600030101010101" pitchFamily="2" charset="-122"/>
            </a:endParaRPr>
          </a:p>
          <a:p>
            <a:pPr eaLnBrk="1" hangingPunct="1">
              <a:defRPr/>
            </a:pPr>
            <a:r>
              <a:rPr lang="zh-CN" altLang="en-US" dirty="0">
                <a:latin typeface="+mj-lt"/>
                <a:ea typeface="华文行楷" panose="02010800040101010101" pitchFamily="2" charset="-122"/>
              </a:rPr>
              <a:t>考前两天</a:t>
            </a:r>
            <a:r>
              <a:rPr lang="en-US" altLang="zh-CN" dirty="0">
                <a:latin typeface="+mj-lt"/>
                <a:ea typeface="华文行楷" panose="02010800040101010101" pitchFamily="2" charset="-122"/>
              </a:rPr>
              <a:t>——</a:t>
            </a:r>
            <a:r>
              <a:rPr lang="zh-CN" altLang="en-US" dirty="0">
                <a:latin typeface="等线" panose="02010600030101010101" pitchFamily="2" charset="-122"/>
                <a:ea typeface="等线" panose="02010600030101010101" pitchFamily="2" charset="-122"/>
              </a:rPr>
              <a:t>如怨如慕，如泣如诉</a:t>
            </a:r>
            <a:endParaRPr lang="en-US" altLang="zh-CN" dirty="0">
              <a:latin typeface="等线" panose="02010600030101010101" pitchFamily="2" charset="-122"/>
              <a:ea typeface="等线" panose="02010600030101010101" pitchFamily="2" charset="-122"/>
            </a:endParaRPr>
          </a:p>
          <a:p>
            <a:pPr eaLnBrk="1" hangingPunct="1">
              <a:defRPr/>
            </a:pPr>
            <a:r>
              <a:rPr lang="zh-CN" altLang="en-US" dirty="0">
                <a:latin typeface="+mj-lt"/>
                <a:ea typeface="华文行楷" panose="02010800040101010101" pitchFamily="2" charset="-122"/>
              </a:rPr>
              <a:t>考前一天</a:t>
            </a:r>
            <a:r>
              <a:rPr lang="en-US" altLang="zh-CN" dirty="0">
                <a:latin typeface="+mj-lt"/>
                <a:ea typeface="华文行楷" panose="02010800040101010101" pitchFamily="2" charset="-122"/>
              </a:rPr>
              <a:t>——</a:t>
            </a:r>
            <a:r>
              <a:rPr lang="zh-CN" altLang="en-US" dirty="0">
                <a:latin typeface="等线" panose="02010600030101010101" pitchFamily="2" charset="-122"/>
                <a:ea typeface="等线" panose="02010600030101010101" pitchFamily="2" charset="-122"/>
              </a:rPr>
              <a:t>哀吾生之须臾，羡长江之无穷</a:t>
            </a:r>
            <a:endParaRPr lang="en-US" altLang="zh-CN" dirty="0">
              <a:latin typeface="等线" panose="02010600030101010101" pitchFamily="2" charset="-122"/>
              <a:ea typeface="等线" panose="02010600030101010101" pitchFamily="2" charset="-122"/>
            </a:endParaRPr>
          </a:p>
          <a:p>
            <a:pPr eaLnBrk="1" hangingPunct="1">
              <a:defRPr/>
            </a:pPr>
            <a:r>
              <a:rPr lang="zh-CN" altLang="en-US" dirty="0">
                <a:latin typeface="+mj-lt"/>
                <a:ea typeface="华文行楷" panose="02010800040101010101" pitchFamily="2" charset="-122"/>
              </a:rPr>
              <a:t>考前十二小时</a:t>
            </a:r>
            <a:r>
              <a:rPr lang="en-US" altLang="zh-CN" dirty="0">
                <a:latin typeface="+mj-lt"/>
                <a:ea typeface="华文行楷" panose="02010800040101010101" pitchFamily="2" charset="-122"/>
              </a:rPr>
              <a:t>——</a:t>
            </a:r>
            <a:r>
              <a:rPr lang="zh-CN" altLang="en-US" dirty="0">
                <a:latin typeface="等线" panose="02010600030101010101" pitchFamily="2" charset="-122"/>
                <a:ea typeface="等线" panose="02010600030101010101" pitchFamily="2" charset="-122"/>
              </a:rPr>
              <a:t>知不可乎骤得，托遗响于悲风</a:t>
            </a:r>
          </a:p>
          <a:p>
            <a:pPr eaLnBrk="1" hangingPunct="1">
              <a:defRPr/>
            </a:pPr>
            <a:r>
              <a:rPr lang="zh-CN" altLang="en-US" dirty="0">
                <a:latin typeface="+mj-lt"/>
                <a:ea typeface="华文行楷" panose="02010800040101010101" pitchFamily="2" charset="-122"/>
              </a:rPr>
              <a:t>考场上</a:t>
            </a:r>
            <a:r>
              <a:rPr lang="en-US" altLang="zh-CN" dirty="0">
                <a:latin typeface="+mj-lt"/>
                <a:ea typeface="华文行楷" panose="02010800040101010101" pitchFamily="2" charset="-122"/>
              </a:rPr>
              <a:t>——</a:t>
            </a:r>
            <a:r>
              <a:rPr lang="zh-CN" altLang="en-US" dirty="0">
                <a:latin typeface="等线" panose="02010600030101010101" pitchFamily="2" charset="-122"/>
                <a:ea typeface="等线" panose="02010600030101010101" pitchFamily="2" charset="-122"/>
              </a:rPr>
              <a:t>浩浩乎如冯虚御风，而不知其所指</a:t>
            </a:r>
            <a:endParaRPr lang="en-US" altLang="zh-CN" dirty="0">
              <a:latin typeface="等线" panose="02010600030101010101" pitchFamily="2" charset="-122"/>
              <a:ea typeface="等线" panose="02010600030101010101" pitchFamily="2" charset="-122"/>
            </a:endParaRPr>
          </a:p>
          <a:p>
            <a:pPr eaLnBrk="1" hangingPunct="1">
              <a:defRPr/>
            </a:pPr>
            <a:r>
              <a:rPr lang="zh-CN" altLang="en-US" dirty="0">
                <a:latin typeface="+mj-lt"/>
                <a:ea typeface="华文行楷" panose="02010800040101010101" pitchFamily="2" charset="-122"/>
              </a:rPr>
              <a:t>考后</a:t>
            </a:r>
            <a:r>
              <a:rPr lang="en-US" altLang="zh-CN" dirty="0">
                <a:latin typeface="+mj-lt"/>
                <a:ea typeface="华文行楷" panose="02010800040101010101" pitchFamily="2" charset="-122"/>
              </a:rPr>
              <a:t>——</a:t>
            </a:r>
            <a:r>
              <a:rPr lang="zh-CN" altLang="en-US" dirty="0">
                <a:latin typeface="等线" panose="02010600030101010101" pitchFamily="2" charset="-122"/>
                <a:ea typeface="等线" panose="02010600030101010101" pitchFamily="2" charset="-122"/>
              </a:rPr>
              <a:t>飘飘乎如遗世独立，羽化而登仙</a:t>
            </a:r>
            <a:endParaRPr lang="zh-CN" altLang="zh-CN" dirty="0">
              <a:latin typeface="等线" panose="02010600030101010101" pitchFamily="2" charset="-122"/>
              <a:ea typeface="等线" panose="02010600030101010101" pitchFamily="2" charset="-122"/>
            </a:endParaRPr>
          </a:p>
        </p:txBody>
      </p:sp>
      <p:sp>
        <p:nvSpPr>
          <p:cNvPr id="3076" name="Rectangle 11"/>
          <p:cNvSpPr>
            <a:spLocks noGrp="1" noChangeArrowheads="1"/>
          </p:cNvSpPr>
          <p:nvPr>
            <p:ph type="title"/>
          </p:nvPr>
        </p:nvSpPr>
        <p:spPr>
          <a:xfrm>
            <a:off x="1858108" y="498170"/>
            <a:ext cx="5029200" cy="563562"/>
          </a:xfrm>
        </p:spPr>
        <p:txBody>
          <a:bodyPr>
            <a:normAutofit fontScale="90000"/>
          </a:bodyPr>
          <a:lstStyle/>
          <a:p>
            <a:pPr algn="l" eaLnBrk="1" hangingPunct="1"/>
            <a:r>
              <a:rPr lang="zh-CN" altLang="en-US" sz="4000">
                <a:solidFill>
                  <a:srgbClr val="FFFF00"/>
                </a:solidFill>
                <a:latin typeface="黑体" panose="02010609060101010101" pitchFamily="49" charset="-122"/>
                <a:ea typeface="黑体" panose="02010609060101010101" pitchFamily="49" charset="-122"/>
              </a:rPr>
              <a:t>考试</a:t>
            </a:r>
            <a:endParaRPr lang="zh-CN" altLang="zh-CN" sz="4000" dirty="0">
              <a:solidFill>
                <a:srgbClr val="FFFF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6325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8" descr="PPT内页副本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961" y="289047"/>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8" name="Rectangle 10"/>
          <p:cNvSpPr>
            <a:spLocks noGrp="1" noChangeArrowheads="1"/>
          </p:cNvSpPr>
          <p:nvPr>
            <p:ph type="body" idx="1"/>
          </p:nvPr>
        </p:nvSpPr>
        <p:spPr>
          <a:xfrm>
            <a:off x="1567961" y="1503484"/>
            <a:ext cx="4950967" cy="4856345"/>
          </a:xfrm>
        </p:spPr>
        <p:txBody>
          <a:bodyPr>
            <a:normAutofit/>
          </a:bodyPr>
          <a:lstStyle/>
          <a:p>
            <a:pPr eaLnBrk="1" hangingPunct="1">
              <a:defRPr/>
            </a:pPr>
            <a:r>
              <a:rPr lang="zh-CN" altLang="en-US" dirty="0">
                <a:latin typeface="+mj-ea"/>
                <a:ea typeface="华文行楷" panose="02010800040101010101" pitchFamily="2" charset="-122"/>
              </a:rPr>
              <a:t>出成绩</a:t>
            </a:r>
            <a:r>
              <a:rPr lang="en-US" altLang="zh-CN" dirty="0">
                <a:latin typeface="+mj-ea"/>
                <a:ea typeface="华文行楷" panose="02010800040101010101" pitchFamily="2" charset="-122"/>
              </a:rPr>
              <a:t>——</a:t>
            </a:r>
            <a:r>
              <a:rPr lang="zh-CN" altLang="en-US" dirty="0">
                <a:latin typeface="等线" panose="02010600030101010101" pitchFamily="2" charset="-122"/>
                <a:ea typeface="等线" panose="02010600030101010101" pitchFamily="2" charset="-122"/>
              </a:rPr>
              <a:t>忽一人大呼：“出成绩了！”夫起大呼，妇亦起大呼，两儿齐哭。俄尔百千人大呼，百千儿哭，百千犬吠。满座宾客无不变色离席，奋袖出臂，两股战战，几欲先走。</a:t>
            </a:r>
            <a:endParaRPr lang="en-US" altLang="zh-CN" dirty="0">
              <a:latin typeface="等线" panose="02010600030101010101" pitchFamily="2" charset="-122"/>
              <a:ea typeface="等线" panose="02010600030101010101" pitchFamily="2" charset="-122"/>
            </a:endParaRPr>
          </a:p>
          <a:p>
            <a:pPr eaLnBrk="1" hangingPunct="1">
              <a:defRPr/>
            </a:pPr>
            <a:r>
              <a:rPr lang="zh-CN" altLang="en-US" dirty="0">
                <a:ea typeface="华文行楷" panose="02010800040101010101" pitchFamily="2" charset="-122"/>
              </a:rPr>
              <a:t>所以考前如何有效复习？</a:t>
            </a:r>
            <a:endParaRPr lang="en-US" altLang="zh-CN" dirty="0">
              <a:ea typeface="华文行楷" panose="02010800040101010101" pitchFamily="2" charset="-122"/>
            </a:endParaRPr>
          </a:p>
          <a:p>
            <a:pPr marL="0" indent="0" eaLnBrk="1" hangingPunct="1">
              <a:buNone/>
              <a:defRPr/>
            </a:pPr>
            <a:r>
              <a:rPr lang="zh-CN" altLang="en-US" dirty="0">
                <a:latin typeface="+mj-ea"/>
              </a:rPr>
              <a:t>    平时倒是好好学啊！</a:t>
            </a:r>
            <a:endParaRPr lang="en-US" altLang="zh-CN" dirty="0">
              <a:latin typeface="+mj-ea"/>
            </a:endParaRPr>
          </a:p>
          <a:p>
            <a:pPr marL="0" indent="0" eaLnBrk="1" hangingPunct="1">
              <a:buNone/>
              <a:defRPr/>
            </a:pPr>
            <a:r>
              <a:rPr lang="en-US" altLang="zh-CN" dirty="0">
                <a:latin typeface="+mj-ea"/>
              </a:rPr>
              <a:t>    </a:t>
            </a:r>
            <a:r>
              <a:rPr lang="zh-CN" altLang="en-US" dirty="0">
                <a:latin typeface="+mj-ea"/>
              </a:rPr>
              <a:t>实在不行，祈祷吧。</a:t>
            </a:r>
            <a:endParaRPr lang="zh-CN" altLang="zh-CN" dirty="0">
              <a:latin typeface="等线" panose="02010600030101010101" pitchFamily="2" charset="-122"/>
              <a:ea typeface="等线" panose="02010600030101010101" pitchFamily="2" charset="-122"/>
            </a:endParaRPr>
          </a:p>
        </p:txBody>
      </p:sp>
      <p:sp>
        <p:nvSpPr>
          <p:cNvPr id="3076" name="Rectangle 11"/>
          <p:cNvSpPr>
            <a:spLocks noGrp="1" noChangeArrowheads="1"/>
          </p:cNvSpPr>
          <p:nvPr>
            <p:ph type="title"/>
          </p:nvPr>
        </p:nvSpPr>
        <p:spPr>
          <a:xfrm>
            <a:off x="1858108" y="498170"/>
            <a:ext cx="5029200" cy="563562"/>
          </a:xfrm>
        </p:spPr>
        <p:txBody>
          <a:bodyPr>
            <a:normAutofit fontScale="90000"/>
          </a:bodyPr>
          <a:lstStyle/>
          <a:p>
            <a:r>
              <a:rPr lang="zh-CN" altLang="en-US" sz="4000" dirty="0">
                <a:solidFill>
                  <a:srgbClr val="FFFF00"/>
                </a:solidFill>
                <a:latin typeface="黑体" panose="02010609060101010101" pitchFamily="49" charset="-122"/>
                <a:ea typeface="黑体" panose="02010609060101010101" pitchFamily="49" charset="-122"/>
              </a:rPr>
              <a:t>考试</a:t>
            </a:r>
            <a:endParaRPr lang="zh-CN" altLang="zh-CN" sz="4000" dirty="0">
              <a:latin typeface="黑体" panose="02010609060101010101" pitchFamily="49" charset="-122"/>
              <a:ea typeface="黑体" panose="02010609060101010101" pitchFamily="49" charset="-122"/>
            </a:endParaRPr>
          </a:p>
        </p:txBody>
      </p:sp>
      <p:pic>
        <p:nvPicPr>
          <p:cNvPr id="2" name="图片 1">
            <a:extLst>
              <a:ext uri="{FF2B5EF4-FFF2-40B4-BE49-F238E27FC236}">
                <a16:creationId xmlns:a16="http://schemas.microsoft.com/office/drawing/2014/main" id="{30428DA5-D338-1857-3597-4D3A0D90EBC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37681" y="1885218"/>
            <a:ext cx="2755527" cy="3667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41842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8" descr="PPT内页副本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961" y="285369"/>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Rectangle 11"/>
          <p:cNvSpPr>
            <a:spLocks noGrp="1" noChangeArrowheads="1"/>
          </p:cNvSpPr>
          <p:nvPr>
            <p:ph type="title"/>
          </p:nvPr>
        </p:nvSpPr>
        <p:spPr>
          <a:xfrm>
            <a:off x="1858108" y="498170"/>
            <a:ext cx="5029200" cy="563562"/>
          </a:xfrm>
        </p:spPr>
        <p:txBody>
          <a:bodyPr>
            <a:normAutofit fontScale="90000"/>
          </a:bodyPr>
          <a:lstStyle/>
          <a:p>
            <a:pPr eaLnBrk="1" hangingPunct="1"/>
            <a:r>
              <a:rPr lang="en-US" altLang="zh-CN" sz="4000" baseline="0" dirty="0">
                <a:solidFill>
                  <a:srgbClr val="FFFF00"/>
                </a:solidFill>
                <a:latin typeface="黑体" panose="02010609060101010101" pitchFamily="49" charset="-122"/>
                <a:ea typeface="黑体" panose="02010609060101010101" pitchFamily="49" charset="-122"/>
              </a:rPr>
              <a:t>《</a:t>
            </a:r>
            <a:r>
              <a:rPr lang="zh-CN" altLang="en-US" sz="4000" baseline="0" dirty="0">
                <a:solidFill>
                  <a:srgbClr val="FFFF00"/>
                </a:solidFill>
                <a:latin typeface="黑体" panose="02010609060101010101" pitchFamily="49" charset="-122"/>
                <a:ea typeface="黑体" panose="02010609060101010101" pitchFamily="49" charset="-122"/>
              </a:rPr>
              <a:t>赡养上帝</a:t>
            </a:r>
            <a:r>
              <a:rPr lang="en-US" altLang="zh-CN" sz="4000" baseline="0" dirty="0">
                <a:solidFill>
                  <a:srgbClr val="FFFF00"/>
                </a:solidFill>
                <a:latin typeface="黑体" panose="02010609060101010101" pitchFamily="49" charset="-122"/>
                <a:ea typeface="黑体" panose="02010609060101010101" pitchFamily="49" charset="-122"/>
              </a:rPr>
              <a:t>》</a:t>
            </a:r>
            <a:r>
              <a:rPr lang="zh-CN" altLang="en-US" sz="4000" baseline="0" dirty="0">
                <a:solidFill>
                  <a:srgbClr val="FFFF00"/>
                </a:solidFill>
                <a:latin typeface="黑体" panose="02010609060101010101" pitchFamily="49" charset="-122"/>
                <a:ea typeface="黑体" panose="02010609060101010101" pitchFamily="49" charset="-122"/>
              </a:rPr>
              <a:t>节选</a:t>
            </a:r>
            <a:endParaRPr lang="zh-CN" altLang="zh-CN" sz="4000" baseline="0" dirty="0">
              <a:solidFill>
                <a:srgbClr val="FFFF00"/>
              </a:solidFill>
              <a:latin typeface="黑体" panose="02010609060101010101" pitchFamily="49" charset="-122"/>
              <a:ea typeface="黑体" panose="02010609060101010101" pitchFamily="49" charset="-122"/>
            </a:endParaRPr>
          </a:p>
        </p:txBody>
      </p:sp>
      <p:sp>
        <p:nvSpPr>
          <p:cNvPr id="2" name="Rectangle 10">
            <a:extLst>
              <a:ext uri="{FF2B5EF4-FFF2-40B4-BE49-F238E27FC236}">
                <a16:creationId xmlns:a16="http://schemas.microsoft.com/office/drawing/2014/main" id="{3934FCF6-B6C6-8A23-A8D9-D67B44B147B0}"/>
              </a:ext>
            </a:extLst>
          </p:cNvPr>
          <p:cNvSpPr txBox="1">
            <a:spLocks noChangeArrowheads="1"/>
          </p:cNvSpPr>
          <p:nvPr/>
        </p:nvSpPr>
        <p:spPr>
          <a:xfrm>
            <a:off x="1567961" y="1540326"/>
            <a:ext cx="9056078" cy="4525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defRPr/>
            </a:pPr>
            <a:r>
              <a:rPr lang="zh-CN" altLang="en-US" sz="2400" dirty="0">
                <a:latin typeface="+mn-ea"/>
              </a:rPr>
              <a:t>“文明衰老的第二个标志是机器摇蓝时代。”</a:t>
            </a:r>
          </a:p>
          <a:p>
            <a:pPr>
              <a:lnSpc>
                <a:spcPct val="100000"/>
              </a:lnSpc>
              <a:defRPr/>
            </a:pPr>
            <a:r>
              <a:rPr lang="zh-CN" altLang="en-US" sz="2400" dirty="0">
                <a:latin typeface="+mn-ea"/>
              </a:rPr>
              <a:t>“嗯？”</a:t>
            </a:r>
            <a:endParaRPr lang="en-US" altLang="zh-CN" sz="2400" dirty="0">
              <a:latin typeface="+mn-ea"/>
            </a:endParaRPr>
          </a:p>
          <a:p>
            <a:pPr>
              <a:lnSpc>
                <a:spcPct val="100000"/>
              </a:lnSpc>
              <a:defRPr/>
            </a:pPr>
            <a:r>
              <a:rPr lang="zh-CN" altLang="en-US" sz="2400" dirty="0">
                <a:latin typeface="+mn-ea"/>
              </a:rPr>
              <a:t>“那时，我们的机器已经完全不依赖于它们的创造者而独立运行，能够自我维护、更新和扩展，这样的智能机器能够提供一切我们所需要的东西，这不只是物质需要，也包括精神需要，我们不需为生存付出任何努力，完全靠机器养活了，就像躺在一个舒适的摇蓝中。想一想，假如当初地球的丛林中充满了采摘不尽的果实，到处是伸手就能抓到的小猎物，猿还能进化成人吗？机器摇蓝就是这样一个富庶的丛林，渐渐地，我们忘却了技术和科学，文化变得懒散而空虚，失去了创新能力和进取心，文明加速老去，你们所看到的，就是这样一个进入了风烛残年的上帝文明。”</a:t>
            </a:r>
            <a:endParaRPr lang="en-US" altLang="zh-CN" sz="2400" dirty="0">
              <a:latin typeface="+mn-ea"/>
            </a:endParaRPr>
          </a:p>
        </p:txBody>
      </p:sp>
    </p:spTree>
    <p:extLst>
      <p:ext uri="{BB962C8B-B14F-4D97-AF65-F5344CB8AC3E}">
        <p14:creationId xmlns:p14="http://schemas.microsoft.com/office/powerpoint/2010/main" val="2882541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8" descr="PPT内页副本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961" y="285369"/>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Rectangle 11"/>
          <p:cNvSpPr>
            <a:spLocks noGrp="1" noChangeArrowheads="1"/>
          </p:cNvSpPr>
          <p:nvPr>
            <p:ph type="title"/>
          </p:nvPr>
        </p:nvSpPr>
        <p:spPr>
          <a:xfrm>
            <a:off x="1858108" y="498170"/>
            <a:ext cx="5029200" cy="563562"/>
          </a:xfrm>
        </p:spPr>
        <p:txBody>
          <a:bodyPr>
            <a:normAutofit fontScale="90000"/>
          </a:bodyPr>
          <a:lstStyle/>
          <a:p>
            <a:pPr eaLnBrk="1" hangingPunct="1"/>
            <a:r>
              <a:rPr lang="en-US" altLang="zh-CN" sz="4000" baseline="0" dirty="0">
                <a:solidFill>
                  <a:srgbClr val="FFFF00"/>
                </a:solidFill>
                <a:latin typeface="黑体" panose="02010609060101010101" pitchFamily="49" charset="-122"/>
                <a:ea typeface="黑体" panose="02010609060101010101" pitchFamily="49" charset="-122"/>
              </a:rPr>
              <a:t>《</a:t>
            </a:r>
            <a:r>
              <a:rPr lang="zh-CN" altLang="en-US" sz="4000" baseline="0" dirty="0">
                <a:solidFill>
                  <a:srgbClr val="FFFF00"/>
                </a:solidFill>
                <a:latin typeface="黑体" panose="02010609060101010101" pitchFamily="49" charset="-122"/>
                <a:ea typeface="黑体" panose="02010609060101010101" pitchFamily="49" charset="-122"/>
              </a:rPr>
              <a:t>赡养上帝</a:t>
            </a:r>
            <a:r>
              <a:rPr lang="en-US" altLang="zh-CN" sz="4000" baseline="0" dirty="0">
                <a:solidFill>
                  <a:srgbClr val="FFFF00"/>
                </a:solidFill>
                <a:latin typeface="黑体" panose="02010609060101010101" pitchFamily="49" charset="-122"/>
                <a:ea typeface="黑体" panose="02010609060101010101" pitchFamily="49" charset="-122"/>
              </a:rPr>
              <a:t>》</a:t>
            </a:r>
            <a:r>
              <a:rPr lang="zh-CN" altLang="en-US" sz="4000" baseline="0" dirty="0">
                <a:solidFill>
                  <a:srgbClr val="FFFF00"/>
                </a:solidFill>
                <a:latin typeface="黑体" panose="02010609060101010101" pitchFamily="49" charset="-122"/>
                <a:ea typeface="黑体" panose="02010609060101010101" pitchFamily="49" charset="-122"/>
              </a:rPr>
              <a:t>节选</a:t>
            </a:r>
            <a:endParaRPr lang="zh-CN" altLang="zh-CN" sz="4000" baseline="0" dirty="0">
              <a:solidFill>
                <a:srgbClr val="FFFF00"/>
              </a:solidFill>
              <a:latin typeface="黑体" panose="02010609060101010101" pitchFamily="49" charset="-122"/>
              <a:ea typeface="黑体" panose="02010609060101010101" pitchFamily="49" charset="-122"/>
            </a:endParaRPr>
          </a:p>
        </p:txBody>
      </p:sp>
      <p:sp>
        <p:nvSpPr>
          <p:cNvPr id="2" name="Rectangle 10">
            <a:extLst>
              <a:ext uri="{FF2B5EF4-FFF2-40B4-BE49-F238E27FC236}">
                <a16:creationId xmlns:a16="http://schemas.microsoft.com/office/drawing/2014/main" id="{3934FCF6-B6C6-8A23-A8D9-D67B44B147B0}"/>
              </a:ext>
            </a:extLst>
          </p:cNvPr>
          <p:cNvSpPr txBox="1">
            <a:spLocks noChangeArrowheads="1"/>
          </p:cNvSpPr>
          <p:nvPr/>
        </p:nvSpPr>
        <p:spPr>
          <a:xfrm>
            <a:off x="1567961" y="1540326"/>
            <a:ext cx="9056078" cy="4525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defRPr/>
            </a:pPr>
            <a:r>
              <a:rPr lang="zh-CN" altLang="en-US" sz="2400" dirty="0">
                <a:latin typeface="+mn-ea"/>
              </a:rPr>
              <a:t>“那么，您现在是否可以告诉我们上帝文明来到地球的目的？”</a:t>
            </a:r>
          </a:p>
          <a:p>
            <a:pPr>
              <a:lnSpc>
                <a:spcPct val="110000"/>
              </a:lnSpc>
              <a:defRPr/>
            </a:pPr>
            <a:r>
              <a:rPr lang="zh-CN" altLang="en-US" sz="2400" dirty="0">
                <a:latin typeface="+mn-ea"/>
              </a:rPr>
              <a:t>“我们无家可归了。”</a:t>
            </a:r>
          </a:p>
          <a:p>
            <a:pPr>
              <a:lnSpc>
                <a:spcPct val="110000"/>
              </a:lnSpc>
              <a:defRPr/>
            </a:pPr>
            <a:r>
              <a:rPr lang="zh-CN" altLang="en-US" sz="2400" dirty="0">
                <a:latin typeface="+mn-ea"/>
              </a:rPr>
              <a:t>“可</a:t>
            </a:r>
            <a:r>
              <a:rPr lang="en-US" altLang="zh-CN" sz="2400" dirty="0">
                <a:latin typeface="+mn-ea"/>
              </a:rPr>
              <a:t>——”</a:t>
            </a:r>
            <a:r>
              <a:rPr lang="zh-CN" altLang="en-US" sz="2400" dirty="0">
                <a:latin typeface="+mn-ea"/>
              </a:rPr>
              <a:t>秘书长向上指指。</a:t>
            </a:r>
          </a:p>
          <a:p>
            <a:pPr>
              <a:lnSpc>
                <a:spcPct val="110000"/>
              </a:lnSpc>
              <a:defRPr/>
            </a:pPr>
            <a:r>
              <a:rPr lang="zh-CN" altLang="en-US" sz="2400" dirty="0">
                <a:latin typeface="+mn-ea"/>
              </a:rPr>
              <a:t>“那都是些老飞船，虽然，飞船上的生态系统比包括地球在内的任何自然形成的生态系统都强健稳定，但飞船都太老了，老得让你们无法想像，机器的部件老化失效，漫长时间内积聚的量子效应产生出越来越多的软件错误，系统的自我维护和修复功能遇到了越来越多的障碍。飞船中的生态环境在渐渐恶化，每个人能够得到的生活必需品配给日益减少，现在只够勉强维持生存，在飞船中的两万多个城市中，迷漫着污浊的空气和绝望的情绪。”</a:t>
            </a:r>
            <a:endParaRPr lang="en-US" altLang="zh-CN" sz="2400" dirty="0">
              <a:latin typeface="+mn-ea"/>
            </a:endParaRPr>
          </a:p>
        </p:txBody>
      </p:sp>
    </p:spTree>
    <p:extLst>
      <p:ext uri="{BB962C8B-B14F-4D97-AF65-F5344CB8AC3E}">
        <p14:creationId xmlns:p14="http://schemas.microsoft.com/office/powerpoint/2010/main" val="34687245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8" descr="PPT内页副本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961" y="285369"/>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Rectangle 11"/>
          <p:cNvSpPr>
            <a:spLocks noGrp="1" noChangeArrowheads="1"/>
          </p:cNvSpPr>
          <p:nvPr>
            <p:ph type="title"/>
          </p:nvPr>
        </p:nvSpPr>
        <p:spPr>
          <a:xfrm>
            <a:off x="1858108" y="498170"/>
            <a:ext cx="5029200" cy="563562"/>
          </a:xfrm>
        </p:spPr>
        <p:txBody>
          <a:bodyPr>
            <a:normAutofit fontScale="90000"/>
          </a:bodyPr>
          <a:lstStyle/>
          <a:p>
            <a:pPr eaLnBrk="1" hangingPunct="1"/>
            <a:r>
              <a:rPr lang="en-US" altLang="zh-CN" sz="4000" baseline="0" dirty="0">
                <a:solidFill>
                  <a:srgbClr val="FFFF00"/>
                </a:solidFill>
                <a:latin typeface="黑体" panose="02010609060101010101" pitchFamily="49" charset="-122"/>
                <a:ea typeface="黑体" panose="02010609060101010101" pitchFamily="49" charset="-122"/>
              </a:rPr>
              <a:t>《</a:t>
            </a:r>
            <a:r>
              <a:rPr lang="zh-CN" altLang="en-US" sz="4000" baseline="0" dirty="0">
                <a:solidFill>
                  <a:srgbClr val="FFFF00"/>
                </a:solidFill>
                <a:latin typeface="黑体" panose="02010609060101010101" pitchFamily="49" charset="-122"/>
                <a:ea typeface="黑体" panose="02010609060101010101" pitchFamily="49" charset="-122"/>
              </a:rPr>
              <a:t>赡养上帝</a:t>
            </a:r>
            <a:r>
              <a:rPr lang="en-US" altLang="zh-CN" sz="4000" baseline="0" dirty="0">
                <a:solidFill>
                  <a:srgbClr val="FFFF00"/>
                </a:solidFill>
                <a:latin typeface="黑体" panose="02010609060101010101" pitchFamily="49" charset="-122"/>
                <a:ea typeface="黑体" panose="02010609060101010101" pitchFamily="49" charset="-122"/>
              </a:rPr>
              <a:t>》</a:t>
            </a:r>
            <a:r>
              <a:rPr lang="zh-CN" altLang="en-US" sz="4000" baseline="0" dirty="0">
                <a:solidFill>
                  <a:srgbClr val="FFFF00"/>
                </a:solidFill>
                <a:latin typeface="黑体" panose="02010609060101010101" pitchFamily="49" charset="-122"/>
                <a:ea typeface="黑体" panose="02010609060101010101" pitchFamily="49" charset="-122"/>
              </a:rPr>
              <a:t>节选</a:t>
            </a:r>
            <a:endParaRPr lang="zh-CN" altLang="zh-CN" sz="4000" baseline="0" dirty="0">
              <a:solidFill>
                <a:srgbClr val="FFFF00"/>
              </a:solidFill>
              <a:latin typeface="黑体" panose="02010609060101010101" pitchFamily="49" charset="-122"/>
              <a:ea typeface="黑体" panose="02010609060101010101" pitchFamily="49" charset="-122"/>
            </a:endParaRPr>
          </a:p>
        </p:txBody>
      </p:sp>
      <p:sp>
        <p:nvSpPr>
          <p:cNvPr id="2" name="Rectangle 10">
            <a:extLst>
              <a:ext uri="{FF2B5EF4-FFF2-40B4-BE49-F238E27FC236}">
                <a16:creationId xmlns:a16="http://schemas.microsoft.com/office/drawing/2014/main" id="{3934FCF6-B6C6-8A23-A8D9-D67B44B147B0}"/>
              </a:ext>
            </a:extLst>
          </p:cNvPr>
          <p:cNvSpPr txBox="1">
            <a:spLocks noChangeArrowheads="1"/>
          </p:cNvSpPr>
          <p:nvPr/>
        </p:nvSpPr>
        <p:spPr>
          <a:xfrm>
            <a:off x="1567961" y="1540326"/>
            <a:ext cx="9056078" cy="45259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defRPr/>
            </a:pPr>
            <a:r>
              <a:rPr lang="zh-CN" altLang="en-US" sz="2400" dirty="0">
                <a:latin typeface="+mn-ea"/>
              </a:rPr>
              <a:t>“没有补救的办法吗？比如更新飞船的硬件和软件？”</a:t>
            </a:r>
          </a:p>
          <a:p>
            <a:pPr>
              <a:lnSpc>
                <a:spcPct val="110000"/>
              </a:lnSpc>
              <a:defRPr/>
            </a:pPr>
            <a:r>
              <a:rPr lang="zh-CN" altLang="en-US" sz="2400" dirty="0">
                <a:latin typeface="+mn-ea"/>
              </a:rPr>
              <a:t>上帝摇摇头：“上帝文明已到垂暮之年，我们是二十亿个三千多岁的老朽之人，其实，早在我们之前，已有上百代人生活在舒适的机器摇蓝之中，技术早就被遗忘干净了。现在，我们不会维修那已经运行了几千万年的飞船，其实在技术和学习能力上我们连你们都不如，我们连点亮一盏灯的电路都不会接，连一元二次议程都不会解</a:t>
            </a:r>
            <a:r>
              <a:rPr lang="en-US" altLang="zh-CN" sz="2400" dirty="0">
                <a:latin typeface="+mn-ea"/>
              </a:rPr>
              <a:t>……</a:t>
            </a:r>
            <a:r>
              <a:rPr lang="zh-CN" altLang="en-US" sz="2400" dirty="0">
                <a:latin typeface="+mn-ea"/>
              </a:rPr>
              <a:t>终于有一天，飞船说：他们已经到了报废的边缘，航行动力系统已没有能力将飞船推进到接近光速，上帝文明只能进行不到光速十分之一的低速航行，飞船上的生态循环系统已接近崩溃，他们无法继续养活二十亿人了，请我们自寻生路。”</a:t>
            </a:r>
            <a:endParaRPr lang="en-US" altLang="zh-CN" sz="2400" dirty="0">
              <a:latin typeface="+mn-ea"/>
            </a:endParaRPr>
          </a:p>
        </p:txBody>
      </p:sp>
    </p:spTree>
    <p:extLst>
      <p:ext uri="{BB962C8B-B14F-4D97-AF65-F5344CB8AC3E}">
        <p14:creationId xmlns:p14="http://schemas.microsoft.com/office/powerpoint/2010/main" val="3604591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8" descr="PPT内页副本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961" y="285369"/>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6" name="Rectangle 11"/>
          <p:cNvSpPr>
            <a:spLocks noGrp="1" noChangeArrowheads="1"/>
          </p:cNvSpPr>
          <p:nvPr>
            <p:ph type="title"/>
          </p:nvPr>
        </p:nvSpPr>
        <p:spPr>
          <a:xfrm>
            <a:off x="1858108" y="498170"/>
            <a:ext cx="5029200" cy="563562"/>
          </a:xfrm>
        </p:spPr>
        <p:txBody>
          <a:bodyPr>
            <a:normAutofit fontScale="90000"/>
          </a:bodyPr>
          <a:lstStyle/>
          <a:p>
            <a:pPr eaLnBrk="1" hangingPunct="1"/>
            <a:r>
              <a:rPr lang="zh-CN" altLang="en-US" sz="4000" dirty="0">
                <a:solidFill>
                  <a:srgbClr val="FFFF00"/>
                </a:solidFill>
                <a:latin typeface="黑体" panose="02010609060101010101" pitchFamily="49" charset="-122"/>
                <a:ea typeface="黑体" panose="02010609060101010101" pitchFamily="49" charset="-122"/>
              </a:rPr>
              <a:t>杂谈</a:t>
            </a:r>
            <a:endParaRPr lang="zh-CN" altLang="zh-CN" sz="4000" baseline="0" dirty="0">
              <a:solidFill>
                <a:srgbClr val="FFFF00"/>
              </a:solidFill>
              <a:latin typeface="黑体" panose="02010609060101010101" pitchFamily="49" charset="-122"/>
              <a:ea typeface="黑体" panose="02010609060101010101" pitchFamily="49" charset="-122"/>
            </a:endParaRPr>
          </a:p>
        </p:txBody>
      </p:sp>
      <p:sp>
        <p:nvSpPr>
          <p:cNvPr id="2" name="Rectangle 10">
            <a:extLst>
              <a:ext uri="{FF2B5EF4-FFF2-40B4-BE49-F238E27FC236}">
                <a16:creationId xmlns:a16="http://schemas.microsoft.com/office/drawing/2014/main" id="{3934FCF6-B6C6-8A23-A8D9-D67B44B147B0}"/>
              </a:ext>
            </a:extLst>
          </p:cNvPr>
          <p:cNvSpPr txBox="1">
            <a:spLocks noChangeArrowheads="1"/>
          </p:cNvSpPr>
          <p:nvPr/>
        </p:nvSpPr>
        <p:spPr>
          <a:xfrm>
            <a:off x="1567961" y="1540326"/>
            <a:ext cx="9056078" cy="485172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zh-CN" altLang="en-US" dirty="0">
                <a:latin typeface="+mn-ea"/>
              </a:rPr>
              <a:t>用不用</a:t>
            </a:r>
            <a:r>
              <a:rPr lang="en-US" altLang="zh-CN" dirty="0">
                <a:latin typeface="+mn-ea"/>
              </a:rPr>
              <a:t>AI</a:t>
            </a:r>
            <a:r>
              <a:rPr lang="zh-CN" altLang="en-US" dirty="0">
                <a:latin typeface="+mn-ea"/>
              </a:rPr>
              <a:t>？</a:t>
            </a:r>
            <a:endParaRPr lang="en-US" altLang="zh-CN" dirty="0">
              <a:latin typeface="+mn-ea"/>
            </a:endParaRPr>
          </a:p>
          <a:p>
            <a:pPr>
              <a:defRPr/>
            </a:pPr>
            <a:r>
              <a:rPr lang="zh-CN" altLang="en-US" dirty="0">
                <a:latin typeface="+mn-ea"/>
              </a:rPr>
              <a:t>怎么用</a:t>
            </a:r>
            <a:r>
              <a:rPr lang="en-US" altLang="zh-CN" dirty="0">
                <a:latin typeface="+mn-ea"/>
              </a:rPr>
              <a:t>AI</a:t>
            </a:r>
            <a:r>
              <a:rPr lang="zh-CN" altLang="en-US" dirty="0">
                <a:latin typeface="+mn-ea"/>
              </a:rPr>
              <a:t>？（抄作业？考试作弊？）</a:t>
            </a:r>
            <a:endParaRPr lang="en-US" altLang="zh-CN" dirty="0">
              <a:latin typeface="+mn-ea"/>
            </a:endParaRPr>
          </a:p>
          <a:p>
            <a:pPr>
              <a:defRPr/>
            </a:pPr>
            <a:r>
              <a:rPr lang="en-US" altLang="zh-CN" dirty="0">
                <a:latin typeface="+mn-ea"/>
              </a:rPr>
              <a:t>AI</a:t>
            </a:r>
            <a:r>
              <a:rPr lang="zh-CN" altLang="en-US" dirty="0">
                <a:latin typeface="+mn-ea"/>
              </a:rPr>
              <a:t>这么厉害，我们为什么还要上大学？</a:t>
            </a:r>
            <a:endParaRPr lang="en-US" altLang="zh-CN" dirty="0">
              <a:latin typeface="+mn-ea"/>
            </a:endParaRPr>
          </a:p>
          <a:p>
            <a:pPr>
              <a:defRPr/>
            </a:pPr>
            <a:r>
              <a:rPr lang="zh-CN" altLang="en-US" dirty="0">
                <a:latin typeface="+mn-ea"/>
              </a:rPr>
              <a:t>如何鉴别</a:t>
            </a:r>
            <a:r>
              <a:rPr lang="en-US" altLang="zh-CN" dirty="0">
                <a:latin typeface="+mn-ea"/>
              </a:rPr>
              <a:t>AI</a:t>
            </a:r>
            <a:r>
              <a:rPr lang="zh-CN" altLang="en-US" dirty="0">
                <a:latin typeface="+mn-ea"/>
              </a:rPr>
              <a:t>的回答？</a:t>
            </a:r>
            <a:endParaRPr lang="en-US" altLang="zh-CN" dirty="0">
              <a:latin typeface="+mn-ea"/>
            </a:endParaRPr>
          </a:p>
          <a:p>
            <a:pPr>
              <a:defRPr/>
            </a:pPr>
            <a:r>
              <a:rPr lang="zh-CN" altLang="en-US" dirty="0">
                <a:latin typeface="+mn-ea"/>
              </a:rPr>
              <a:t>大学生数学竞赛要不要参加？如何准备？</a:t>
            </a:r>
            <a:endParaRPr lang="en-US" altLang="zh-CN" dirty="0">
              <a:latin typeface="+mn-ea"/>
            </a:endParaRPr>
          </a:p>
          <a:p>
            <a:pPr>
              <a:defRPr/>
            </a:pPr>
            <a:r>
              <a:rPr lang="zh-CN" altLang="en-US">
                <a:latin typeface="+mn-ea"/>
              </a:rPr>
              <a:t>符号计算工具</a:t>
            </a:r>
            <a:endParaRPr lang="en-US" altLang="zh-CN" dirty="0">
              <a:latin typeface="+mn-ea"/>
            </a:endParaRPr>
          </a:p>
          <a:p>
            <a:pPr>
              <a:defRPr/>
            </a:pPr>
            <a:r>
              <a:rPr lang="zh-CN" altLang="en-US" dirty="0">
                <a:hlinkClick r:id="rId3"/>
              </a:rPr>
              <a:t>中国科学技术大学超星智慧教学平台</a:t>
            </a:r>
            <a:endParaRPr lang="en-US" altLang="zh-CN" dirty="0"/>
          </a:p>
          <a:p>
            <a:pPr>
              <a:defRPr/>
            </a:pPr>
            <a:r>
              <a:rPr lang="zh-CN" altLang="en-US" dirty="0">
                <a:hlinkClick r:id="rId4"/>
              </a:rPr>
              <a:t>大模型公共服务平台</a:t>
            </a:r>
            <a:endParaRPr lang="en-US" altLang="zh-CN" dirty="0"/>
          </a:p>
          <a:p>
            <a:pPr>
              <a:defRPr/>
            </a:pPr>
            <a:r>
              <a:rPr lang="en-US" altLang="zh-CN" dirty="0">
                <a:hlinkClick r:id="rId5"/>
              </a:rPr>
              <a:t>USTC</a:t>
            </a:r>
            <a:r>
              <a:rPr lang="zh-CN" altLang="en-US" dirty="0">
                <a:hlinkClick r:id="rId5"/>
              </a:rPr>
              <a:t>评课社区</a:t>
            </a:r>
            <a:endParaRPr lang="en-US" altLang="zh-CN" dirty="0">
              <a:latin typeface="+mn-ea"/>
            </a:endParaRPr>
          </a:p>
          <a:p>
            <a:pPr>
              <a:defRPr/>
            </a:pPr>
            <a:endParaRPr lang="en-US" altLang="zh-CN" dirty="0">
              <a:latin typeface="+mn-ea"/>
            </a:endParaRPr>
          </a:p>
        </p:txBody>
      </p:sp>
    </p:spTree>
    <p:extLst>
      <p:ext uri="{BB962C8B-B14F-4D97-AF65-F5344CB8AC3E}">
        <p14:creationId xmlns:p14="http://schemas.microsoft.com/office/powerpoint/2010/main" val="15460291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8" descr="PPT内页副本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7961" y="269706"/>
            <a:ext cx="9144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8" name="Rectangle 10"/>
          <p:cNvSpPr>
            <a:spLocks noGrp="1" noChangeArrowheads="1"/>
          </p:cNvSpPr>
          <p:nvPr>
            <p:ph type="body" idx="1"/>
          </p:nvPr>
        </p:nvSpPr>
        <p:spPr>
          <a:xfrm>
            <a:off x="1567961" y="1667351"/>
            <a:ext cx="9144000" cy="4391112"/>
          </a:xfrm>
        </p:spPr>
        <p:txBody>
          <a:bodyPr>
            <a:normAutofit/>
          </a:bodyPr>
          <a:lstStyle/>
          <a:p>
            <a:pPr marL="0" indent="0" algn="ctr">
              <a:buNone/>
              <a:defRPr/>
            </a:pPr>
            <a:r>
              <a:rPr lang="zh-CN" altLang="en-US" b="1" dirty="0"/>
              <a:t>西江月</a:t>
            </a:r>
            <a:r>
              <a:rPr lang="en-US" altLang="zh-CN" b="1" dirty="0"/>
              <a:t>·</a:t>
            </a:r>
            <a:r>
              <a:rPr lang="zh-CN" altLang="en-US" b="1" dirty="0"/>
              <a:t>证明</a:t>
            </a:r>
            <a:endParaRPr lang="en-US" altLang="zh-CN" b="1" dirty="0">
              <a:latin typeface="华文楷体" panose="02010600040101010101" pitchFamily="2" charset="-122"/>
              <a:ea typeface="华文楷体" panose="02010600040101010101" pitchFamily="2" charset="-122"/>
            </a:endParaRPr>
          </a:p>
          <a:p>
            <a:pPr marL="0" indent="0">
              <a:buNone/>
              <a:defRPr/>
            </a:pPr>
            <a:r>
              <a:rPr lang="zh-CN" altLang="en-US" dirty="0">
                <a:latin typeface="华文楷体" panose="02010600040101010101" pitchFamily="2" charset="-122"/>
                <a:ea typeface="华文楷体" panose="02010600040101010101" pitchFamily="2" charset="-122"/>
              </a:rPr>
              <a:t>        即得易见平凡，仿照上例显然。留作习题答案略，读者自证不难。</a:t>
            </a:r>
            <a:endParaRPr lang="en-US" altLang="zh-CN" dirty="0">
              <a:latin typeface="华文楷体" panose="02010600040101010101" pitchFamily="2" charset="-122"/>
              <a:ea typeface="华文楷体" panose="02010600040101010101" pitchFamily="2" charset="-122"/>
            </a:endParaRPr>
          </a:p>
          <a:p>
            <a:pPr marL="0" indent="0">
              <a:buNone/>
              <a:defRPr/>
            </a:pPr>
            <a:r>
              <a:rPr lang="zh-CN" altLang="en-US" dirty="0">
                <a:latin typeface="华文楷体" panose="02010600040101010101" pitchFamily="2" charset="-122"/>
                <a:ea typeface="华文楷体" panose="02010600040101010101" pitchFamily="2" charset="-122"/>
              </a:rPr>
              <a:t>        反之亦然同理，推论自然成立。略去过程</a:t>
            </a:r>
            <a:r>
              <a:rPr lang="en-US" altLang="zh-CN" dirty="0">
                <a:latin typeface="华文楷体" panose="02010600040101010101" pitchFamily="2" charset="-122"/>
                <a:ea typeface="华文楷体" panose="02010600040101010101" pitchFamily="2" charset="-122"/>
              </a:rPr>
              <a:t>QED</a:t>
            </a:r>
            <a:r>
              <a:rPr lang="zh-CN" altLang="en-US" dirty="0">
                <a:latin typeface="华文楷体" panose="02010600040101010101" pitchFamily="2" charset="-122"/>
                <a:ea typeface="华文楷体" panose="02010600040101010101" pitchFamily="2" charset="-122"/>
              </a:rPr>
              <a:t>，由上可知证毕。</a:t>
            </a:r>
            <a:endParaRPr lang="en-US" altLang="zh-CN" dirty="0">
              <a:latin typeface="华文楷体" panose="02010600040101010101" pitchFamily="2" charset="-122"/>
              <a:ea typeface="华文楷体" panose="02010600040101010101" pitchFamily="2" charset="-122"/>
            </a:endParaRPr>
          </a:p>
          <a:p>
            <a:pPr marL="0" indent="0">
              <a:buNone/>
              <a:defRPr/>
            </a:pPr>
            <a:endParaRPr lang="en-US" altLang="zh-CN" dirty="0">
              <a:latin typeface="华文楷体" panose="02010600040101010101" pitchFamily="2" charset="-122"/>
              <a:ea typeface="华文楷体" panose="02010600040101010101" pitchFamily="2" charset="-122"/>
            </a:endParaRPr>
          </a:p>
          <a:p>
            <a:pPr marL="0" indent="0" algn="ctr">
              <a:buNone/>
              <a:defRPr/>
            </a:pPr>
            <a:r>
              <a:rPr lang="zh-CN" altLang="en-US" dirty="0">
                <a:latin typeface="华文行楷" panose="02010800040101010101" pitchFamily="2" charset="-122"/>
                <a:ea typeface="华文行楷" panose="02010800040101010101" pitchFamily="2" charset="-122"/>
              </a:rPr>
              <a:t>祝愿每一位同学找到属于自己的大学之路！</a:t>
            </a:r>
            <a:endParaRPr lang="en-US" altLang="zh-CN" dirty="0">
              <a:latin typeface="华文行楷" panose="02010800040101010101" pitchFamily="2" charset="-122"/>
              <a:ea typeface="华文行楷" panose="02010800040101010101" pitchFamily="2" charset="-122"/>
            </a:endParaRPr>
          </a:p>
        </p:txBody>
      </p:sp>
      <p:sp>
        <p:nvSpPr>
          <p:cNvPr id="3076" name="Rectangle 11"/>
          <p:cNvSpPr>
            <a:spLocks noGrp="1" noChangeArrowheads="1"/>
          </p:cNvSpPr>
          <p:nvPr>
            <p:ph type="title"/>
          </p:nvPr>
        </p:nvSpPr>
        <p:spPr>
          <a:xfrm>
            <a:off x="1898748" y="471270"/>
            <a:ext cx="5029200" cy="563562"/>
          </a:xfrm>
        </p:spPr>
        <p:txBody>
          <a:bodyPr>
            <a:normAutofit fontScale="90000"/>
          </a:bodyPr>
          <a:lstStyle/>
          <a:p>
            <a:pPr algn="l" eaLnBrk="1" hangingPunct="1"/>
            <a:r>
              <a:rPr lang="zh-CN" altLang="en-US" sz="4000" dirty="0">
                <a:solidFill>
                  <a:srgbClr val="FFFF00"/>
                </a:solidFill>
                <a:latin typeface="黑体" panose="02010609060101010101" pitchFamily="49" charset="-122"/>
                <a:ea typeface="黑体" panose="02010609060101010101" pitchFamily="49" charset="-122"/>
              </a:rPr>
              <a:t>结语</a:t>
            </a:r>
            <a:endParaRPr lang="zh-CN" altLang="zh-CN" sz="4000" dirty="0">
              <a:solidFill>
                <a:srgbClr val="FFFF00"/>
              </a:solidFill>
              <a:latin typeface="黑体" panose="02010609060101010101" pitchFamily="49" charset="-122"/>
              <a:ea typeface="黑体" panose="02010609060101010101" pitchFamily="49" charset="-122"/>
            </a:endParaRPr>
          </a:p>
        </p:txBody>
      </p:sp>
      <p:pic>
        <p:nvPicPr>
          <p:cNvPr id="3" name="图片 2">
            <a:extLst>
              <a:ext uri="{FF2B5EF4-FFF2-40B4-BE49-F238E27FC236}">
                <a16:creationId xmlns:a16="http://schemas.microsoft.com/office/drawing/2014/main" id="{C0AA4010-7324-98F6-E151-E3B74F884D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0490" y="271294"/>
            <a:ext cx="6231548" cy="6858000"/>
          </a:xfrm>
          <a:prstGeom prst="rect">
            <a:avLst/>
          </a:prstGeom>
        </p:spPr>
      </p:pic>
    </p:spTree>
    <p:extLst>
      <p:ext uri="{BB962C8B-B14F-4D97-AF65-F5344CB8AC3E}">
        <p14:creationId xmlns:p14="http://schemas.microsoft.com/office/powerpoint/2010/main" val="3360690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78">
                                            <p:txEl>
                                              <p:pRg st="0" end="0"/>
                                            </p:txEl>
                                          </p:spTgt>
                                        </p:tgtEl>
                                        <p:attrNameLst>
                                          <p:attrName>style.visibility</p:attrName>
                                        </p:attrNameLst>
                                      </p:cBhvr>
                                      <p:to>
                                        <p:strVal val="visible"/>
                                      </p:to>
                                    </p:set>
                                    <p:animEffect transition="in" filter="fade">
                                      <p:cBhvr>
                                        <p:cTn id="7" dur="500"/>
                                        <p:tgtEl>
                                          <p:spTgt spid="717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78">
                                            <p:txEl>
                                              <p:pRg st="1" end="1"/>
                                            </p:txEl>
                                          </p:spTgt>
                                        </p:tgtEl>
                                        <p:attrNameLst>
                                          <p:attrName>style.visibility</p:attrName>
                                        </p:attrNameLst>
                                      </p:cBhvr>
                                      <p:to>
                                        <p:strVal val="visible"/>
                                      </p:to>
                                    </p:set>
                                    <p:animEffect transition="in" filter="fade">
                                      <p:cBhvr>
                                        <p:cTn id="12" dur="500"/>
                                        <p:tgtEl>
                                          <p:spTgt spid="717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178">
                                            <p:txEl>
                                              <p:pRg st="2" end="2"/>
                                            </p:txEl>
                                          </p:spTgt>
                                        </p:tgtEl>
                                        <p:attrNameLst>
                                          <p:attrName>style.visibility</p:attrName>
                                        </p:attrNameLst>
                                      </p:cBhvr>
                                      <p:to>
                                        <p:strVal val="visible"/>
                                      </p:to>
                                    </p:set>
                                    <p:animEffect transition="in" filter="fade">
                                      <p:cBhvr>
                                        <p:cTn id="17" dur="500"/>
                                        <p:tgtEl>
                                          <p:spTgt spid="717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78">
                                            <p:txEl>
                                              <p:pRg st="4" end="4"/>
                                            </p:txEl>
                                          </p:spTgt>
                                        </p:tgtEl>
                                        <p:attrNameLst>
                                          <p:attrName>style.visibility</p:attrName>
                                        </p:attrNameLst>
                                      </p:cBhvr>
                                      <p:to>
                                        <p:strVal val="visible"/>
                                      </p:to>
                                    </p:set>
                                    <p:animEffect transition="in" filter="fade">
                                      <p:cBhvr>
                                        <p:cTn id="22" dur="500"/>
                                        <p:tgtEl>
                                          <p:spTgt spid="717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884</TotalTime>
  <Words>1232</Words>
  <Application>Microsoft Office PowerPoint</Application>
  <PresentationFormat>宽屏</PresentationFormat>
  <Paragraphs>110</Paragraphs>
  <Slides>17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17</vt:i4>
      </vt:variant>
    </vt:vector>
  </HeadingPairs>
  <TitlesOfParts>
    <vt:vector size="27" baseType="lpstr">
      <vt:lpstr>等线</vt:lpstr>
      <vt:lpstr>等线 Light</vt:lpstr>
      <vt:lpstr>黑体</vt:lpstr>
      <vt:lpstr>华文彩云</vt:lpstr>
      <vt:lpstr>华文楷体</vt:lpstr>
      <vt:lpstr>华文行楷</vt:lpstr>
      <vt:lpstr>Arial</vt:lpstr>
      <vt:lpstr>Times New Roman</vt:lpstr>
      <vt:lpstr>Wingdings</vt:lpstr>
      <vt:lpstr>Office 主题​​</vt:lpstr>
      <vt:lpstr>数学分析开学第一课</vt:lpstr>
      <vt:lpstr>个人信息</vt:lpstr>
      <vt:lpstr>助教团队</vt:lpstr>
      <vt:lpstr>何为分析？</vt:lpstr>
      <vt:lpstr>何为数学分析？</vt:lpstr>
      <vt:lpstr>数学分析的产生</vt:lpstr>
      <vt:lpstr>数学分析的产生</vt:lpstr>
      <vt:lpstr>我们学的数学分析</vt:lpstr>
      <vt:lpstr>参考书的问题</vt:lpstr>
      <vt:lpstr>答疑</vt:lpstr>
      <vt:lpstr>考试</vt:lpstr>
      <vt:lpstr>考试</vt:lpstr>
      <vt:lpstr>《赡养上帝》节选</vt:lpstr>
      <vt:lpstr>《赡养上帝》节选</vt:lpstr>
      <vt:lpstr>《赡养上帝》节选</vt:lpstr>
      <vt:lpstr>杂谈</vt:lpstr>
      <vt:lpstr>结语</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数学分析的前世今生</dc:title>
  <dc:creator>asus-pc</dc:creator>
  <cp:lastModifiedBy>天 吴</cp:lastModifiedBy>
  <cp:revision>125</cp:revision>
  <dcterms:created xsi:type="dcterms:W3CDTF">2018-03-20T13:31:04Z</dcterms:created>
  <dcterms:modified xsi:type="dcterms:W3CDTF">2026-09-07T00:32:06Z</dcterms:modified>
</cp:coreProperties>
</file>